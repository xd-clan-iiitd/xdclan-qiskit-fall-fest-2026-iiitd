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972800" cy="320040"/>
          </a:xfrm>
          <a:prstGeom prst="rect">
            <a:avLst/>
          </a:prstGeom>
          <a:noFill/>
        </p:spPr>
        <p:txBody>
          <a:bodyPr wrap="square">
            <a:spAutoFit/>
          </a:bodyPr>
          <a:lstStyle/>
          <a:p>
            <a:pPr>
              <a:defRPr sz="1100" b="1">
                <a:solidFill>
                  <a:srgbClr val="26BED2"/>
                </a:solidFill>
                <a:latin typeface="Aptos"/>
              </a:defRPr>
            </a:pPr>
            <a:r>
              <a:t>QISKIT FALL FEST 2026 × IIIT DELHI  |  TRACK 2: QUANTUM OPTIMIZATION</a:t>
            </a:r>
          </a:p>
        </p:txBody>
      </p:sp>
      <p:sp>
        <p:nvSpPr>
          <p:cNvPr id="4" name="TextBox 3"/>
          <p:cNvSpPr txBox="1"/>
          <p:nvPr/>
        </p:nvSpPr>
        <p:spPr>
          <a:xfrm>
            <a:off x="731520" y="1143000"/>
            <a:ext cx="10515600" cy="822960"/>
          </a:xfrm>
          <a:prstGeom prst="rect">
            <a:avLst/>
          </a:prstGeom>
          <a:noFill/>
        </p:spPr>
        <p:txBody>
          <a:bodyPr wrap="square">
            <a:spAutoFit/>
          </a:bodyPr>
          <a:lstStyle/>
          <a:p>
            <a:pPr>
              <a:defRPr sz="4400" b="1">
                <a:solidFill>
                  <a:srgbClr val="F6F9FC"/>
                </a:solidFill>
                <a:latin typeface="Aptos"/>
              </a:defRPr>
            </a:pPr>
            <a:r>
              <a:t>XD CLAN</a:t>
            </a:r>
          </a:p>
        </p:txBody>
      </p:sp>
      <p:sp>
        <p:nvSpPr>
          <p:cNvPr id="5" name="TextBox 4"/>
          <p:cNvSpPr txBox="1"/>
          <p:nvPr/>
        </p:nvSpPr>
        <p:spPr>
          <a:xfrm>
            <a:off x="731520" y="1965960"/>
            <a:ext cx="10607040" cy="914400"/>
          </a:xfrm>
          <a:prstGeom prst="rect">
            <a:avLst/>
          </a:prstGeom>
          <a:noFill/>
        </p:spPr>
        <p:txBody>
          <a:bodyPr wrap="square">
            <a:spAutoFit/>
          </a:bodyPr>
          <a:lstStyle/>
          <a:p>
            <a:pPr>
              <a:defRPr sz="2900" b="1">
                <a:solidFill>
                  <a:srgbClr val="F6F9FC"/>
                </a:solidFill>
                <a:latin typeface="Aptos"/>
              </a:defRPr>
            </a:pPr>
            <a:r>
              <a:t>QAOA for Constrained Portfolio Optimization</a:t>
            </a:r>
          </a:p>
        </p:txBody>
      </p:sp>
      <p:sp>
        <p:nvSpPr>
          <p:cNvPr id="6" name="TextBox 5"/>
          <p:cNvSpPr txBox="1"/>
          <p:nvPr/>
        </p:nvSpPr>
        <p:spPr>
          <a:xfrm>
            <a:off x="731520" y="3017520"/>
            <a:ext cx="9875520" cy="731520"/>
          </a:xfrm>
          <a:prstGeom prst="rect">
            <a:avLst/>
          </a:prstGeom>
          <a:noFill/>
        </p:spPr>
        <p:txBody>
          <a:bodyPr wrap="square">
            <a:spAutoFit/>
          </a:bodyPr>
          <a:lstStyle/>
          <a:p>
            <a:pPr>
              <a:defRPr sz="1900" b="0">
                <a:solidFill>
                  <a:srgbClr val="B7C6DA"/>
                </a:solidFill>
                <a:latin typeface="Aptos"/>
              </a:defRPr>
            </a:pPr>
            <a:r>
              <a:t>From a financial selection problem to a binary model, a quantum circuit, and evidence-based comparison.</a:t>
            </a:r>
          </a:p>
        </p:txBody>
      </p:sp>
      <p:sp>
        <p:nvSpPr>
          <p:cNvPr id="7" name="Rounded Rectangle 6"/>
          <p:cNvSpPr/>
          <p:nvPr/>
        </p:nvSpPr>
        <p:spPr>
          <a:xfrm>
            <a:off x="731520" y="4069080"/>
            <a:ext cx="3017520" cy="10058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187952"/>
            <a:ext cx="2688336" cy="320040"/>
          </a:xfrm>
          <a:prstGeom prst="rect">
            <a:avLst/>
          </a:prstGeom>
          <a:noFill/>
        </p:spPr>
        <p:txBody>
          <a:bodyPr wrap="square">
            <a:spAutoFit/>
          </a:bodyPr>
          <a:lstStyle/>
          <a:p>
            <a:pPr>
              <a:defRPr sz="1500" b="1">
                <a:solidFill>
                  <a:srgbClr val="26BED2"/>
                </a:solidFill>
                <a:latin typeface="Aptos"/>
              </a:defRPr>
            </a:pPr>
            <a:r>
              <a:t>6-ASSET CASE</a:t>
            </a:r>
          </a:p>
        </p:txBody>
      </p:sp>
      <p:sp>
        <p:nvSpPr>
          <p:cNvPr id="9" name="TextBox 8"/>
          <p:cNvSpPr txBox="1"/>
          <p:nvPr/>
        </p:nvSpPr>
        <p:spPr>
          <a:xfrm>
            <a:off x="896112" y="4572000"/>
            <a:ext cx="2688336" cy="384048"/>
          </a:xfrm>
          <a:prstGeom prst="rect">
            <a:avLst/>
          </a:prstGeom>
          <a:noFill/>
        </p:spPr>
        <p:txBody>
          <a:bodyPr wrap="square">
            <a:spAutoFit/>
          </a:bodyPr>
          <a:lstStyle/>
          <a:p>
            <a:pPr>
              <a:defRPr sz="1200" b="0">
                <a:solidFill>
                  <a:srgbClr val="F6F9FC"/>
                </a:solidFill>
                <a:latin typeface="Aptos"/>
              </a:defRPr>
            </a:pPr>
            <a:r>
              <a:t>64 possible bitstrings</a:t>
            </a:r>
            <a:br/>
            <a:r>
              <a:t>20 feasible portfolios</a:t>
            </a:r>
          </a:p>
        </p:txBody>
      </p:sp>
      <p:sp>
        <p:nvSpPr>
          <p:cNvPr id="10" name="Rounded Rectangle 9"/>
          <p:cNvSpPr/>
          <p:nvPr/>
        </p:nvSpPr>
        <p:spPr>
          <a:xfrm>
            <a:off x="3977639" y="4069080"/>
            <a:ext cx="3017520" cy="10058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42231" y="4187952"/>
            <a:ext cx="2688336" cy="320040"/>
          </a:xfrm>
          <a:prstGeom prst="rect">
            <a:avLst/>
          </a:prstGeom>
          <a:noFill/>
        </p:spPr>
        <p:txBody>
          <a:bodyPr wrap="square">
            <a:spAutoFit/>
          </a:bodyPr>
          <a:lstStyle/>
          <a:p>
            <a:pPr>
              <a:defRPr sz="1500" b="1">
                <a:solidFill>
                  <a:srgbClr val="26BED2"/>
                </a:solidFill>
                <a:latin typeface="Aptos"/>
              </a:defRPr>
            </a:pPr>
            <a:r>
              <a:t>12-ASSET CASE</a:t>
            </a:r>
          </a:p>
        </p:txBody>
      </p:sp>
      <p:sp>
        <p:nvSpPr>
          <p:cNvPr id="12" name="TextBox 11"/>
          <p:cNvSpPr txBox="1"/>
          <p:nvPr/>
        </p:nvSpPr>
        <p:spPr>
          <a:xfrm>
            <a:off x="4142231" y="4572000"/>
            <a:ext cx="2688336" cy="384048"/>
          </a:xfrm>
          <a:prstGeom prst="rect">
            <a:avLst/>
          </a:prstGeom>
          <a:noFill/>
        </p:spPr>
        <p:txBody>
          <a:bodyPr wrap="square">
            <a:spAutoFit/>
          </a:bodyPr>
          <a:lstStyle/>
          <a:p>
            <a:pPr>
              <a:defRPr sz="1200" b="0">
                <a:solidFill>
                  <a:srgbClr val="F6F9FC"/>
                </a:solidFill>
                <a:latin typeface="Aptos"/>
              </a:defRPr>
            </a:pPr>
            <a:r>
              <a:t>924 feasible portfolios</a:t>
            </a:r>
            <a:br/>
            <a:r>
              <a:t>exact classical reference</a:t>
            </a:r>
          </a:p>
        </p:txBody>
      </p:sp>
      <p:sp>
        <p:nvSpPr>
          <p:cNvPr id="13" name="Rounded Rectangle 12"/>
          <p:cNvSpPr/>
          <p:nvPr/>
        </p:nvSpPr>
        <p:spPr>
          <a:xfrm>
            <a:off x="7223760" y="4069080"/>
            <a:ext cx="4160520" cy="10058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88352" y="4187952"/>
            <a:ext cx="3831335" cy="320040"/>
          </a:xfrm>
          <a:prstGeom prst="rect">
            <a:avLst/>
          </a:prstGeom>
          <a:noFill/>
        </p:spPr>
        <p:txBody>
          <a:bodyPr wrap="square">
            <a:spAutoFit/>
          </a:bodyPr>
          <a:lstStyle/>
          <a:p>
            <a:pPr>
              <a:defRPr sz="1500" b="1">
                <a:solidFill>
                  <a:srgbClr val="26BED2"/>
                </a:solidFill>
                <a:latin typeface="Aptos"/>
              </a:defRPr>
            </a:pPr>
            <a:r>
              <a:t>RECORDED HARDWARE RUN</a:t>
            </a:r>
          </a:p>
        </p:txBody>
      </p:sp>
      <p:sp>
        <p:nvSpPr>
          <p:cNvPr id="15" name="TextBox 14"/>
          <p:cNvSpPr txBox="1"/>
          <p:nvPr/>
        </p:nvSpPr>
        <p:spPr>
          <a:xfrm>
            <a:off x="7388352" y="4572000"/>
            <a:ext cx="3831335" cy="384048"/>
          </a:xfrm>
          <a:prstGeom prst="rect">
            <a:avLst/>
          </a:prstGeom>
          <a:noFill/>
        </p:spPr>
        <p:txBody>
          <a:bodyPr wrap="square">
            <a:spAutoFit/>
          </a:bodyPr>
          <a:lstStyle/>
          <a:p>
            <a:pPr>
              <a:defRPr sz="1200" b="0">
                <a:solidFill>
                  <a:srgbClr val="F6F9FC"/>
                </a:solidFill>
                <a:latin typeface="Aptos"/>
              </a:defRPr>
            </a:pPr>
            <a:r>
              <a:t>IBM Marrakesh · 1,024 shots</a:t>
            </a:r>
          </a:p>
        </p:txBody>
      </p:sp>
      <p:sp>
        <p:nvSpPr>
          <p:cNvPr id="16" name="TextBox 15"/>
          <p:cNvSpPr txBox="1"/>
          <p:nvPr/>
        </p:nvSpPr>
        <p:spPr>
          <a:xfrm>
            <a:off x="731520" y="5440680"/>
            <a:ext cx="1828800" cy="274320"/>
          </a:xfrm>
          <a:prstGeom prst="rect">
            <a:avLst/>
          </a:prstGeom>
          <a:noFill/>
        </p:spPr>
        <p:txBody>
          <a:bodyPr wrap="square">
            <a:spAutoFit/>
          </a:bodyPr>
          <a:lstStyle/>
          <a:p>
            <a:pPr>
              <a:defRPr sz="1000" b="1">
                <a:solidFill>
                  <a:srgbClr val="26BED2"/>
                </a:solidFill>
                <a:latin typeface="Aptos"/>
              </a:defRPr>
            </a:pPr>
            <a:r>
              <a:t>LIVE OPTIMIZER</a:t>
            </a:r>
          </a:p>
        </p:txBody>
      </p:sp>
      <p:sp>
        <p:nvSpPr>
          <p:cNvPr id="17" name="TextBox 16"/>
          <p:cNvSpPr txBox="1"/>
          <p:nvPr/>
        </p:nvSpPr>
        <p:spPr>
          <a:xfrm>
            <a:off x="731520" y="5742432"/>
            <a:ext cx="10789920" cy="384048"/>
          </a:xfrm>
          <a:prstGeom prst="rect">
            <a:avLst/>
          </a:prstGeom>
          <a:noFill/>
        </p:spPr>
        <p:txBody>
          <a:bodyPr wrap="square">
            <a:spAutoFit/>
          </a:bodyPr>
          <a:lstStyle/>
          <a:p>
            <a:pPr>
              <a:defRPr sz="1200" b="1">
                <a:solidFill>
                  <a:srgbClr val="F6F9FC"/>
                </a:solidFill>
                <a:latin typeface="Aptos"/>
              </a:defRPr>
            </a:pPr>
            <a:r>
              <a:t>https://qiskit-fall-fest-2026-iiitd-ajiq5qdibj2ujasptcycxm.streamlit.app/</a:t>
            </a:r>
          </a:p>
        </p:txBody>
      </p:sp>
      <p:sp>
        <p:nvSpPr>
          <p:cNvPr id="18" name="TextBox 17"/>
          <p:cNvSpPr txBox="1"/>
          <p:nvPr/>
        </p:nvSpPr>
        <p:spPr>
          <a:xfrm>
            <a:off x="731520" y="6492240"/>
            <a:ext cx="10058400" cy="182880"/>
          </a:xfrm>
          <a:prstGeom prst="rect">
            <a:avLst/>
          </a:prstGeom>
          <a:noFill/>
        </p:spPr>
        <p:txBody>
          <a:bodyPr wrap="square">
            <a:spAutoFit/>
          </a:bodyPr>
          <a:lstStyle/>
          <a:p>
            <a:pPr>
              <a:defRPr sz="800" b="0">
                <a:solidFill>
                  <a:srgbClr val="B7C6DA"/>
                </a:solidFill>
                <a:latin typeface="Aptos"/>
              </a:defRPr>
            </a:pPr>
            <a:r>
              <a:t>Updated explanatory presentation · figures grounded in saved project CSVs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01 / PROBLEM FRAMING</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What does portfolio optimization mean?</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The app and notebook treat portfolio selection as a discrete decision problem.</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02</a:t>
            </a:r>
          </a:p>
        </p:txBody>
      </p:sp>
      <p:sp>
        <p:nvSpPr>
          <p:cNvPr id="9" name="Rounded Rectangle 8"/>
          <p:cNvSpPr/>
          <p:nvPr/>
        </p:nvSpPr>
        <p:spPr>
          <a:xfrm>
            <a:off x="640080" y="1965960"/>
            <a:ext cx="3383280" cy="21031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2084831"/>
            <a:ext cx="3054096" cy="320040"/>
          </a:xfrm>
          <a:prstGeom prst="rect">
            <a:avLst/>
          </a:prstGeom>
          <a:noFill/>
        </p:spPr>
        <p:txBody>
          <a:bodyPr wrap="square">
            <a:spAutoFit/>
          </a:bodyPr>
          <a:lstStyle/>
          <a:p>
            <a:pPr>
              <a:defRPr sz="1500" b="1">
                <a:solidFill>
                  <a:srgbClr val="26BED2"/>
                </a:solidFill>
                <a:latin typeface="Aptos"/>
              </a:defRPr>
            </a:pPr>
            <a:r>
              <a:t>DECISION</a:t>
            </a:r>
          </a:p>
        </p:txBody>
      </p:sp>
      <p:sp>
        <p:nvSpPr>
          <p:cNvPr id="11" name="TextBox 10"/>
          <p:cNvSpPr txBox="1"/>
          <p:nvPr/>
        </p:nvSpPr>
        <p:spPr>
          <a:xfrm>
            <a:off x="804671" y="2468880"/>
            <a:ext cx="3054096" cy="1481327"/>
          </a:xfrm>
          <a:prstGeom prst="rect">
            <a:avLst/>
          </a:prstGeom>
          <a:noFill/>
        </p:spPr>
        <p:txBody>
          <a:bodyPr wrap="square">
            <a:spAutoFit/>
          </a:bodyPr>
          <a:lstStyle/>
          <a:p>
            <a:pPr>
              <a:defRPr sz="1200" b="0">
                <a:solidFill>
                  <a:srgbClr val="F6F9FC"/>
                </a:solidFill>
                <a:latin typeface="Aptos"/>
              </a:defRPr>
            </a:pPr>
            <a:r>
              <a:t>Each asset is a binary choice:</a:t>
            </a:r>
            <a:br/>
            <a:r>
              <a:t>1 = include the asset</a:t>
            </a:r>
            <a:br/>
            <a:r>
              <a:t>0 = leave it out</a:t>
            </a:r>
            <a:br/>
            <a:br/>
            <a:r>
              <a:t>Portfolio = vector x of 0s and 1s.</a:t>
            </a:r>
          </a:p>
        </p:txBody>
      </p:sp>
      <p:sp>
        <p:nvSpPr>
          <p:cNvPr id="12" name="Rounded Rectangle 11"/>
          <p:cNvSpPr/>
          <p:nvPr/>
        </p:nvSpPr>
        <p:spPr>
          <a:xfrm>
            <a:off x="4389120" y="1965960"/>
            <a:ext cx="3383280" cy="21031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084831"/>
            <a:ext cx="3054096" cy="320040"/>
          </a:xfrm>
          <a:prstGeom prst="rect">
            <a:avLst/>
          </a:prstGeom>
          <a:noFill/>
        </p:spPr>
        <p:txBody>
          <a:bodyPr wrap="square">
            <a:spAutoFit/>
          </a:bodyPr>
          <a:lstStyle/>
          <a:p>
            <a:pPr>
              <a:defRPr sz="1500" b="1">
                <a:solidFill>
                  <a:srgbClr val="26BED2"/>
                </a:solidFill>
                <a:latin typeface="Aptos"/>
              </a:defRPr>
            </a:pPr>
            <a:r>
              <a:t>TRADE-OFF</a:t>
            </a:r>
          </a:p>
        </p:txBody>
      </p:sp>
      <p:sp>
        <p:nvSpPr>
          <p:cNvPr id="14" name="TextBox 13"/>
          <p:cNvSpPr txBox="1"/>
          <p:nvPr/>
        </p:nvSpPr>
        <p:spPr>
          <a:xfrm>
            <a:off x="4553712" y="2468880"/>
            <a:ext cx="3054096" cy="1481327"/>
          </a:xfrm>
          <a:prstGeom prst="rect">
            <a:avLst/>
          </a:prstGeom>
          <a:noFill/>
        </p:spPr>
        <p:txBody>
          <a:bodyPr wrap="square">
            <a:spAutoFit/>
          </a:bodyPr>
          <a:lstStyle/>
          <a:p>
            <a:pPr>
              <a:defRPr sz="1200" b="0">
                <a:solidFill>
                  <a:srgbClr val="F6F9FC"/>
                </a:solidFill>
                <a:latin typeface="Aptos"/>
              </a:defRPr>
            </a:pPr>
            <a:r>
              <a:t>Expected return rewards attractive assets.</a:t>
            </a:r>
            <a:br/>
            <a:r>
              <a:t>Risk penalizes portfolios with correlated or volatile assets.</a:t>
            </a:r>
          </a:p>
        </p:txBody>
      </p:sp>
      <p:sp>
        <p:nvSpPr>
          <p:cNvPr id="15" name="Rounded Rectangle 14"/>
          <p:cNvSpPr/>
          <p:nvPr/>
        </p:nvSpPr>
        <p:spPr>
          <a:xfrm>
            <a:off x="8138160" y="1965960"/>
            <a:ext cx="3383280" cy="21031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2084831"/>
            <a:ext cx="3054096" cy="320040"/>
          </a:xfrm>
          <a:prstGeom prst="rect">
            <a:avLst/>
          </a:prstGeom>
          <a:noFill/>
        </p:spPr>
        <p:txBody>
          <a:bodyPr wrap="square">
            <a:spAutoFit/>
          </a:bodyPr>
          <a:lstStyle/>
          <a:p>
            <a:pPr>
              <a:defRPr sz="1500" b="1">
                <a:solidFill>
                  <a:srgbClr val="26BED2"/>
                </a:solidFill>
                <a:latin typeface="Aptos"/>
              </a:defRPr>
            </a:pPr>
            <a:r>
              <a:t>CONSTRAINT</a:t>
            </a:r>
          </a:p>
        </p:txBody>
      </p:sp>
      <p:sp>
        <p:nvSpPr>
          <p:cNvPr id="17" name="TextBox 16"/>
          <p:cNvSpPr txBox="1"/>
          <p:nvPr/>
        </p:nvSpPr>
        <p:spPr>
          <a:xfrm>
            <a:off x="8302752" y="2468880"/>
            <a:ext cx="3054096" cy="1481327"/>
          </a:xfrm>
          <a:prstGeom prst="rect">
            <a:avLst/>
          </a:prstGeom>
          <a:noFill/>
        </p:spPr>
        <p:txBody>
          <a:bodyPr wrap="square">
            <a:spAutoFit/>
          </a:bodyPr>
          <a:lstStyle/>
          <a:p>
            <a:pPr>
              <a:defRPr sz="1200" b="0">
                <a:solidFill>
                  <a:srgbClr val="F6F9FC"/>
                </a:solidFill>
                <a:latin typeface="Aptos"/>
              </a:defRPr>
            </a:pPr>
            <a:r>
              <a:t>Choose exactly K assets.</a:t>
            </a:r>
            <a:br/>
            <a:r>
              <a:t>Advanced benchmark also limits how many assets can come from each sector.</a:t>
            </a:r>
          </a:p>
        </p:txBody>
      </p:sp>
      <p:sp>
        <p:nvSpPr>
          <p:cNvPr id="18" name="TextBox 17"/>
          <p:cNvSpPr txBox="1"/>
          <p:nvPr/>
        </p:nvSpPr>
        <p:spPr>
          <a:xfrm>
            <a:off x="822960" y="4572000"/>
            <a:ext cx="10515600" cy="731520"/>
          </a:xfrm>
          <a:prstGeom prst="rect">
            <a:avLst/>
          </a:prstGeom>
          <a:noFill/>
        </p:spPr>
        <p:txBody>
          <a:bodyPr wrap="square">
            <a:spAutoFit/>
          </a:bodyPr>
          <a:lstStyle/>
          <a:p>
            <a:pPr>
              <a:defRPr sz="1800" b="1">
                <a:solidFill>
                  <a:srgbClr val="F6F9FC"/>
                </a:solidFill>
                <a:latin typeface="Aptos"/>
              </a:defRPr>
            </a:pPr>
            <a:r>
              <a:t>Why it is hard: with n assets there are 2ⁿ binary portfolios. Constraints reduce the valid set, but the search space grows quickly.</a:t>
            </a:r>
          </a:p>
        </p:txBody>
      </p:sp>
      <p:sp>
        <p:nvSpPr>
          <p:cNvPr id="19" name="TextBox 18"/>
          <p:cNvSpPr txBox="1"/>
          <p:nvPr/>
        </p:nvSpPr>
        <p:spPr>
          <a:xfrm>
            <a:off x="822960" y="5486400"/>
            <a:ext cx="10515600" cy="457200"/>
          </a:xfrm>
          <a:prstGeom prst="rect">
            <a:avLst/>
          </a:prstGeom>
          <a:noFill/>
        </p:spPr>
        <p:txBody>
          <a:bodyPr wrap="square">
            <a:spAutoFit/>
          </a:bodyPr>
          <a:lstStyle/>
          <a:p>
            <a:pPr>
              <a:defRPr sz="1400" b="0">
                <a:solidFill>
                  <a:srgbClr val="B7C6DA"/>
                </a:solidFill>
                <a:latin typeface="Aptos"/>
              </a:defRPr>
            </a:pPr>
            <a:r>
              <a:t>Project objective: minimize a seeded risk/return cost while respecting the portfolio constraints.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02 / MATHEMATICAL MODEL</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How the portfolio score is built</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The experiment uses a seeded return vector and a positive-semidefinite covariance-like matrix.</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03</a:t>
            </a:r>
          </a:p>
        </p:txBody>
      </p:sp>
      <p:sp>
        <p:nvSpPr>
          <p:cNvPr id="9" name="Rounded Rectangle 8"/>
          <p:cNvSpPr/>
          <p:nvPr/>
        </p:nvSpPr>
        <p:spPr>
          <a:xfrm>
            <a:off x="731520" y="1828800"/>
            <a:ext cx="5212080" cy="14173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47672"/>
            <a:ext cx="4882896" cy="320040"/>
          </a:xfrm>
          <a:prstGeom prst="rect">
            <a:avLst/>
          </a:prstGeom>
          <a:noFill/>
        </p:spPr>
        <p:txBody>
          <a:bodyPr wrap="square">
            <a:spAutoFit/>
          </a:bodyPr>
          <a:lstStyle/>
          <a:p>
            <a:pPr>
              <a:defRPr sz="1500" b="1">
                <a:solidFill>
                  <a:srgbClr val="26BED2"/>
                </a:solidFill>
                <a:latin typeface="Aptos"/>
              </a:defRPr>
            </a:pPr>
            <a:r>
              <a:t>OBJECTIVE</a:t>
            </a:r>
          </a:p>
        </p:txBody>
      </p:sp>
      <p:sp>
        <p:nvSpPr>
          <p:cNvPr id="11" name="TextBox 10"/>
          <p:cNvSpPr txBox="1"/>
          <p:nvPr/>
        </p:nvSpPr>
        <p:spPr>
          <a:xfrm>
            <a:off x="896112" y="2331720"/>
            <a:ext cx="4882896" cy="795528"/>
          </a:xfrm>
          <a:prstGeom prst="rect">
            <a:avLst/>
          </a:prstGeom>
          <a:noFill/>
        </p:spPr>
        <p:txBody>
          <a:bodyPr wrap="square">
            <a:spAutoFit/>
          </a:bodyPr>
          <a:lstStyle/>
          <a:p>
            <a:pPr>
              <a:defRPr sz="1200" b="0">
                <a:solidFill>
                  <a:srgbClr val="F6F9FC"/>
                </a:solidFill>
                <a:latin typeface="Aptos"/>
              </a:defRPr>
            </a:pPr>
            <a:r>
              <a:t>C(x) = q xᵀΣx − μᵀx</a:t>
            </a:r>
            <a:br/>
            <a:r>
              <a:t>Risk term − return term</a:t>
            </a:r>
          </a:p>
        </p:txBody>
      </p:sp>
      <p:sp>
        <p:nvSpPr>
          <p:cNvPr id="12" name="Rounded Rectangle 11"/>
          <p:cNvSpPr/>
          <p:nvPr/>
        </p:nvSpPr>
        <p:spPr>
          <a:xfrm>
            <a:off x="6217920" y="1828800"/>
            <a:ext cx="5212080" cy="14173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947672"/>
            <a:ext cx="4882896" cy="320040"/>
          </a:xfrm>
          <a:prstGeom prst="rect">
            <a:avLst/>
          </a:prstGeom>
          <a:noFill/>
        </p:spPr>
        <p:txBody>
          <a:bodyPr wrap="square">
            <a:spAutoFit/>
          </a:bodyPr>
          <a:lstStyle/>
          <a:p>
            <a:pPr>
              <a:defRPr sz="1500" b="1">
                <a:solidFill>
                  <a:srgbClr val="26BED2"/>
                </a:solidFill>
                <a:latin typeface="Aptos"/>
              </a:defRPr>
            </a:pPr>
            <a:r>
              <a:t>CARDINALITY PENALTY</a:t>
            </a:r>
          </a:p>
        </p:txBody>
      </p:sp>
      <p:sp>
        <p:nvSpPr>
          <p:cNvPr id="14" name="TextBox 13"/>
          <p:cNvSpPr txBox="1"/>
          <p:nvPr/>
        </p:nvSpPr>
        <p:spPr>
          <a:xfrm>
            <a:off x="6382512" y="2331720"/>
            <a:ext cx="4882896" cy="795528"/>
          </a:xfrm>
          <a:prstGeom prst="rect">
            <a:avLst/>
          </a:prstGeom>
          <a:noFill/>
        </p:spPr>
        <p:txBody>
          <a:bodyPr wrap="square">
            <a:spAutoFit/>
          </a:bodyPr>
          <a:lstStyle/>
          <a:p>
            <a:pPr>
              <a:defRPr sz="1200" b="0">
                <a:solidFill>
                  <a:srgbClr val="F6F9FC"/>
                </a:solidFill>
                <a:latin typeface="Aptos"/>
              </a:defRPr>
            </a:pPr>
            <a:r>
              <a:t>Add λ(Σᵢxᵢ − K)² to penalize selecting too few or too many assets.</a:t>
            </a:r>
          </a:p>
        </p:txBody>
      </p:sp>
      <p:sp>
        <p:nvSpPr>
          <p:cNvPr id="15" name="Rounded Rectangle 14"/>
          <p:cNvSpPr/>
          <p:nvPr/>
        </p:nvSpPr>
        <p:spPr>
          <a:xfrm>
            <a:off x="914400" y="4069080"/>
            <a:ext cx="2743200" cy="12344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187952"/>
            <a:ext cx="2414016" cy="320040"/>
          </a:xfrm>
          <a:prstGeom prst="rect">
            <a:avLst/>
          </a:prstGeom>
          <a:noFill/>
        </p:spPr>
        <p:txBody>
          <a:bodyPr wrap="square">
            <a:spAutoFit/>
          </a:bodyPr>
          <a:lstStyle/>
          <a:p>
            <a:pPr>
              <a:defRPr sz="1500" b="1">
                <a:solidFill>
                  <a:srgbClr val="26BED2"/>
                </a:solidFill>
                <a:latin typeface="Aptos"/>
              </a:defRPr>
            </a:pPr>
            <a:r>
              <a:t>Inputs</a:t>
            </a:r>
          </a:p>
        </p:txBody>
      </p:sp>
      <p:sp>
        <p:nvSpPr>
          <p:cNvPr id="17" name="TextBox 16"/>
          <p:cNvSpPr txBox="1"/>
          <p:nvPr/>
        </p:nvSpPr>
        <p:spPr>
          <a:xfrm>
            <a:off x="1078992" y="4572000"/>
            <a:ext cx="2414016" cy="612648"/>
          </a:xfrm>
          <a:prstGeom prst="rect">
            <a:avLst/>
          </a:prstGeom>
          <a:noFill/>
        </p:spPr>
        <p:txBody>
          <a:bodyPr wrap="square">
            <a:spAutoFit/>
          </a:bodyPr>
          <a:lstStyle/>
          <a:p>
            <a:pPr>
              <a:defRPr sz="1200" b="0">
                <a:solidFill>
                  <a:srgbClr val="F6F9FC"/>
                </a:solidFill>
                <a:latin typeface="Aptos"/>
              </a:defRPr>
            </a:pPr>
            <a:r>
              <a:t>μ: expected returns</a:t>
            </a:r>
            <a:br/>
            <a:r>
              <a:t>Σ = AAᵀ: risk structure</a:t>
            </a:r>
          </a:p>
        </p:txBody>
      </p:sp>
      <p:sp>
        <p:nvSpPr>
          <p:cNvPr id="18" name="Rounded Rectangle 17"/>
          <p:cNvSpPr/>
          <p:nvPr/>
        </p:nvSpPr>
        <p:spPr>
          <a:xfrm>
            <a:off x="4343400" y="4069080"/>
            <a:ext cx="2743200" cy="12344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7992" y="4187952"/>
            <a:ext cx="2414016" cy="320040"/>
          </a:xfrm>
          <a:prstGeom prst="rect">
            <a:avLst/>
          </a:prstGeom>
          <a:noFill/>
        </p:spPr>
        <p:txBody>
          <a:bodyPr wrap="square">
            <a:spAutoFit/>
          </a:bodyPr>
          <a:lstStyle/>
          <a:p>
            <a:pPr>
              <a:defRPr sz="1500" b="1">
                <a:solidFill>
                  <a:srgbClr val="26BED2"/>
                </a:solidFill>
                <a:latin typeface="Aptos"/>
              </a:defRPr>
            </a:pPr>
            <a:r>
              <a:t>Binary choice</a:t>
            </a:r>
          </a:p>
        </p:txBody>
      </p:sp>
      <p:sp>
        <p:nvSpPr>
          <p:cNvPr id="20" name="TextBox 19"/>
          <p:cNvSpPr txBox="1"/>
          <p:nvPr/>
        </p:nvSpPr>
        <p:spPr>
          <a:xfrm>
            <a:off x="4507992" y="4572000"/>
            <a:ext cx="2414016" cy="612648"/>
          </a:xfrm>
          <a:prstGeom prst="rect">
            <a:avLst/>
          </a:prstGeom>
          <a:noFill/>
        </p:spPr>
        <p:txBody>
          <a:bodyPr wrap="square">
            <a:spAutoFit/>
          </a:bodyPr>
          <a:lstStyle/>
          <a:p>
            <a:pPr>
              <a:defRPr sz="1200" b="0">
                <a:solidFill>
                  <a:srgbClr val="F6F9FC"/>
                </a:solidFill>
                <a:latin typeface="Aptos"/>
              </a:defRPr>
            </a:pPr>
            <a:r>
              <a:t>xᵢ ∈ {0,1}</a:t>
            </a:r>
            <a:br/>
            <a:r>
              <a:t>select K assets</a:t>
            </a:r>
          </a:p>
        </p:txBody>
      </p:sp>
      <p:sp>
        <p:nvSpPr>
          <p:cNvPr id="21" name="Rounded Rectangle 20"/>
          <p:cNvSpPr/>
          <p:nvPr/>
        </p:nvSpPr>
        <p:spPr>
          <a:xfrm>
            <a:off x="7772400" y="4069080"/>
            <a:ext cx="2743200" cy="12344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36992" y="4187952"/>
            <a:ext cx="2414016" cy="320040"/>
          </a:xfrm>
          <a:prstGeom prst="rect">
            <a:avLst/>
          </a:prstGeom>
          <a:noFill/>
        </p:spPr>
        <p:txBody>
          <a:bodyPr wrap="square">
            <a:spAutoFit/>
          </a:bodyPr>
          <a:lstStyle/>
          <a:p>
            <a:pPr>
              <a:defRPr sz="1500" b="1">
                <a:solidFill>
                  <a:srgbClr val="26BED2"/>
                </a:solidFill>
                <a:latin typeface="Aptos"/>
              </a:defRPr>
            </a:pPr>
            <a:r>
              <a:t>Cost evaluation</a:t>
            </a:r>
          </a:p>
        </p:txBody>
      </p:sp>
      <p:sp>
        <p:nvSpPr>
          <p:cNvPr id="23" name="TextBox 22"/>
          <p:cNvSpPr txBox="1"/>
          <p:nvPr/>
        </p:nvSpPr>
        <p:spPr>
          <a:xfrm>
            <a:off x="7936992" y="4572000"/>
            <a:ext cx="2414016" cy="612648"/>
          </a:xfrm>
          <a:prstGeom prst="rect">
            <a:avLst/>
          </a:prstGeom>
          <a:noFill/>
        </p:spPr>
        <p:txBody>
          <a:bodyPr wrap="square">
            <a:spAutoFit/>
          </a:bodyPr>
          <a:lstStyle/>
          <a:p>
            <a:pPr>
              <a:defRPr sz="1200" b="0">
                <a:solidFill>
                  <a:srgbClr val="F6F9FC"/>
                </a:solidFill>
                <a:latin typeface="Aptos"/>
              </a:defRPr>
            </a:pPr>
            <a:r>
              <a:t>compute risk/return</a:t>
            </a:r>
            <a:br/>
            <a:r>
              <a:t>plus constraint penalty</a:t>
            </a:r>
          </a:p>
        </p:txBody>
      </p:sp>
      <p:cxnSp>
        <p:nvCxnSpPr>
          <p:cNvPr id="24" name="Connector 23"/>
          <p:cNvCxnSpPr/>
          <p:nvPr/>
        </p:nvCxnSpPr>
        <p:spPr>
          <a:xfrm>
            <a:off x="3749039" y="4663440"/>
            <a:ext cx="502921"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78040" y="4663440"/>
            <a:ext cx="502920"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5715000"/>
            <a:ext cx="10607040" cy="411480"/>
          </a:xfrm>
          <a:prstGeom prst="rect">
            <a:avLst/>
          </a:prstGeom>
          <a:noFill/>
        </p:spPr>
        <p:txBody>
          <a:bodyPr wrap="square">
            <a:spAutoFit/>
          </a:bodyPr>
          <a:lstStyle/>
          <a:p>
            <a:pPr>
              <a:defRPr sz="1300" b="0">
                <a:solidFill>
                  <a:srgbClr val="B7C6DA"/>
                </a:solidFill>
                <a:latin typeface="Aptos"/>
              </a:defRPr>
            </a:pPr>
            <a:r>
              <a:t>Lower cost is better in this formulation. The random seed makes the recorded test instances reproducible.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03 / END-TO-END WORKFLOW</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From a user problem to a measured result</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This is the pipeline used by the project; simulator and hardware branches are reported separately.</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04</a:t>
            </a:r>
          </a:p>
        </p:txBody>
      </p:sp>
      <p:sp>
        <p:nvSpPr>
          <p:cNvPr id="9" name="Rounded Rectangle 8"/>
          <p:cNvSpPr/>
          <p:nvPr/>
        </p:nvSpPr>
        <p:spPr>
          <a:xfrm>
            <a:off x="640080" y="2423160"/>
            <a:ext cx="1828800" cy="132588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2542032"/>
            <a:ext cx="1499616" cy="320040"/>
          </a:xfrm>
          <a:prstGeom prst="rect">
            <a:avLst/>
          </a:prstGeom>
          <a:noFill/>
        </p:spPr>
        <p:txBody>
          <a:bodyPr wrap="square">
            <a:spAutoFit/>
          </a:bodyPr>
          <a:lstStyle/>
          <a:p>
            <a:pPr>
              <a:defRPr sz="1500" b="1">
                <a:solidFill>
                  <a:srgbClr val="26BED2"/>
                </a:solidFill>
                <a:latin typeface="Aptos"/>
              </a:defRPr>
            </a:pPr>
            <a:r>
              <a:t>1. Define</a:t>
            </a:r>
          </a:p>
        </p:txBody>
      </p:sp>
      <p:sp>
        <p:nvSpPr>
          <p:cNvPr id="11" name="TextBox 10"/>
          <p:cNvSpPr txBox="1"/>
          <p:nvPr/>
        </p:nvSpPr>
        <p:spPr>
          <a:xfrm>
            <a:off x="804671" y="2926080"/>
            <a:ext cx="1499616" cy="704087"/>
          </a:xfrm>
          <a:prstGeom prst="rect">
            <a:avLst/>
          </a:prstGeom>
          <a:noFill/>
        </p:spPr>
        <p:txBody>
          <a:bodyPr wrap="square">
            <a:spAutoFit/>
          </a:bodyPr>
          <a:lstStyle/>
          <a:p>
            <a:pPr>
              <a:defRPr sz="1200" b="0">
                <a:solidFill>
                  <a:srgbClr val="F6F9FC"/>
                </a:solidFill>
                <a:latin typeface="Aptos"/>
              </a:defRPr>
            </a:pPr>
            <a:r>
              <a:t>assets, returns,</a:t>
            </a:r>
            <a:br/>
            <a:r>
              <a:t>risk matrix, K</a:t>
            </a:r>
          </a:p>
        </p:txBody>
      </p:sp>
      <p:sp>
        <p:nvSpPr>
          <p:cNvPr id="12" name="Rounded Rectangle 11"/>
          <p:cNvSpPr/>
          <p:nvPr/>
        </p:nvSpPr>
        <p:spPr>
          <a:xfrm>
            <a:off x="2880360" y="2423160"/>
            <a:ext cx="1828800" cy="132588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4952" y="2542032"/>
            <a:ext cx="1499616" cy="320040"/>
          </a:xfrm>
          <a:prstGeom prst="rect">
            <a:avLst/>
          </a:prstGeom>
          <a:noFill/>
        </p:spPr>
        <p:txBody>
          <a:bodyPr wrap="square">
            <a:spAutoFit/>
          </a:bodyPr>
          <a:lstStyle/>
          <a:p>
            <a:pPr>
              <a:defRPr sz="1500" b="1">
                <a:solidFill>
                  <a:srgbClr val="26BED2"/>
                </a:solidFill>
                <a:latin typeface="Aptos"/>
              </a:defRPr>
            </a:pPr>
            <a:r>
              <a:t>2. Encode</a:t>
            </a:r>
          </a:p>
        </p:txBody>
      </p:sp>
      <p:sp>
        <p:nvSpPr>
          <p:cNvPr id="14" name="TextBox 13"/>
          <p:cNvSpPr txBox="1"/>
          <p:nvPr/>
        </p:nvSpPr>
        <p:spPr>
          <a:xfrm>
            <a:off x="3044952" y="2926080"/>
            <a:ext cx="1499616" cy="704087"/>
          </a:xfrm>
          <a:prstGeom prst="rect">
            <a:avLst/>
          </a:prstGeom>
          <a:noFill/>
        </p:spPr>
        <p:txBody>
          <a:bodyPr wrap="square">
            <a:spAutoFit/>
          </a:bodyPr>
          <a:lstStyle/>
          <a:p>
            <a:pPr>
              <a:defRPr sz="1200" b="0">
                <a:solidFill>
                  <a:srgbClr val="F6F9FC"/>
                </a:solidFill>
                <a:latin typeface="Aptos"/>
              </a:defRPr>
            </a:pPr>
            <a:r>
              <a:t>cost Hamiltonian</a:t>
            </a:r>
            <a:br/>
            <a:r>
              <a:t>+ penalty</a:t>
            </a:r>
          </a:p>
        </p:txBody>
      </p:sp>
      <p:sp>
        <p:nvSpPr>
          <p:cNvPr id="15" name="Rounded Rectangle 14"/>
          <p:cNvSpPr/>
          <p:nvPr/>
        </p:nvSpPr>
        <p:spPr>
          <a:xfrm>
            <a:off x="5120640" y="2423160"/>
            <a:ext cx="1828800" cy="132588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5231" y="2542032"/>
            <a:ext cx="1499616" cy="320040"/>
          </a:xfrm>
          <a:prstGeom prst="rect">
            <a:avLst/>
          </a:prstGeom>
          <a:noFill/>
        </p:spPr>
        <p:txBody>
          <a:bodyPr wrap="square">
            <a:spAutoFit/>
          </a:bodyPr>
          <a:lstStyle/>
          <a:p>
            <a:pPr>
              <a:defRPr sz="1500" b="1">
                <a:solidFill>
                  <a:srgbClr val="26BED2"/>
                </a:solidFill>
                <a:latin typeface="Aptos"/>
              </a:defRPr>
            </a:pPr>
            <a:r>
              <a:t>3. Optimize</a:t>
            </a:r>
          </a:p>
        </p:txBody>
      </p:sp>
      <p:sp>
        <p:nvSpPr>
          <p:cNvPr id="17" name="TextBox 16"/>
          <p:cNvSpPr txBox="1"/>
          <p:nvPr/>
        </p:nvSpPr>
        <p:spPr>
          <a:xfrm>
            <a:off x="5285231" y="2926080"/>
            <a:ext cx="1499616" cy="704087"/>
          </a:xfrm>
          <a:prstGeom prst="rect">
            <a:avLst/>
          </a:prstGeom>
          <a:noFill/>
        </p:spPr>
        <p:txBody>
          <a:bodyPr wrap="square">
            <a:spAutoFit/>
          </a:bodyPr>
          <a:lstStyle/>
          <a:p>
            <a:pPr>
              <a:defRPr sz="1200" b="0">
                <a:solidFill>
                  <a:srgbClr val="F6F9FC"/>
                </a:solidFill>
                <a:latin typeface="Aptos"/>
              </a:defRPr>
            </a:pPr>
            <a:r>
              <a:t>QAOA angles</a:t>
            </a:r>
            <a:br/>
            <a:r>
              <a:t>γ and β</a:t>
            </a:r>
          </a:p>
        </p:txBody>
      </p:sp>
      <p:sp>
        <p:nvSpPr>
          <p:cNvPr id="18" name="Rounded Rectangle 17"/>
          <p:cNvSpPr/>
          <p:nvPr/>
        </p:nvSpPr>
        <p:spPr>
          <a:xfrm>
            <a:off x="7360920" y="2423160"/>
            <a:ext cx="1828800" cy="132588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5512" y="2542032"/>
            <a:ext cx="1499616" cy="320040"/>
          </a:xfrm>
          <a:prstGeom prst="rect">
            <a:avLst/>
          </a:prstGeom>
          <a:noFill/>
        </p:spPr>
        <p:txBody>
          <a:bodyPr wrap="square">
            <a:spAutoFit/>
          </a:bodyPr>
          <a:lstStyle/>
          <a:p>
            <a:pPr>
              <a:defRPr sz="1500" b="1">
                <a:solidFill>
                  <a:srgbClr val="26BED2"/>
                </a:solidFill>
                <a:latin typeface="Aptos"/>
              </a:defRPr>
            </a:pPr>
            <a:r>
              <a:t>4. Sample</a:t>
            </a:r>
          </a:p>
        </p:txBody>
      </p:sp>
      <p:sp>
        <p:nvSpPr>
          <p:cNvPr id="20" name="TextBox 19"/>
          <p:cNvSpPr txBox="1"/>
          <p:nvPr/>
        </p:nvSpPr>
        <p:spPr>
          <a:xfrm>
            <a:off x="7525512" y="2926080"/>
            <a:ext cx="1499616" cy="704087"/>
          </a:xfrm>
          <a:prstGeom prst="rect">
            <a:avLst/>
          </a:prstGeom>
          <a:noFill/>
        </p:spPr>
        <p:txBody>
          <a:bodyPr wrap="square">
            <a:spAutoFit/>
          </a:bodyPr>
          <a:lstStyle/>
          <a:p>
            <a:pPr>
              <a:defRPr sz="1200" b="0">
                <a:solidFill>
                  <a:srgbClr val="F6F9FC"/>
                </a:solidFill>
                <a:latin typeface="Aptos"/>
              </a:defRPr>
            </a:pPr>
            <a:r>
              <a:t>measure bitstrings</a:t>
            </a:r>
            <a:br/>
            <a:r>
              <a:t>and count shots</a:t>
            </a:r>
          </a:p>
        </p:txBody>
      </p:sp>
      <p:sp>
        <p:nvSpPr>
          <p:cNvPr id="21" name="Rounded Rectangle 20"/>
          <p:cNvSpPr/>
          <p:nvPr/>
        </p:nvSpPr>
        <p:spPr>
          <a:xfrm>
            <a:off x="9601200" y="2423160"/>
            <a:ext cx="1828800" cy="132588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2542032"/>
            <a:ext cx="1499616" cy="320040"/>
          </a:xfrm>
          <a:prstGeom prst="rect">
            <a:avLst/>
          </a:prstGeom>
          <a:noFill/>
        </p:spPr>
        <p:txBody>
          <a:bodyPr wrap="square">
            <a:spAutoFit/>
          </a:bodyPr>
          <a:lstStyle/>
          <a:p>
            <a:pPr>
              <a:defRPr sz="1500" b="1">
                <a:solidFill>
                  <a:srgbClr val="26BED2"/>
                </a:solidFill>
                <a:latin typeface="Aptos"/>
              </a:defRPr>
            </a:pPr>
            <a:r>
              <a:t>5. Evaluate</a:t>
            </a:r>
          </a:p>
        </p:txBody>
      </p:sp>
      <p:sp>
        <p:nvSpPr>
          <p:cNvPr id="23" name="TextBox 22"/>
          <p:cNvSpPr txBox="1"/>
          <p:nvPr/>
        </p:nvSpPr>
        <p:spPr>
          <a:xfrm>
            <a:off x="9765792" y="2926080"/>
            <a:ext cx="1499616" cy="704087"/>
          </a:xfrm>
          <a:prstGeom prst="rect">
            <a:avLst/>
          </a:prstGeom>
          <a:noFill/>
        </p:spPr>
        <p:txBody>
          <a:bodyPr wrap="square">
            <a:spAutoFit/>
          </a:bodyPr>
          <a:lstStyle/>
          <a:p>
            <a:pPr>
              <a:defRPr sz="1200" b="0">
                <a:solidFill>
                  <a:srgbClr val="F6F9FC"/>
                </a:solidFill>
                <a:latin typeface="Aptos"/>
              </a:defRPr>
            </a:pPr>
            <a:r>
              <a:t>feasibility, cost,</a:t>
            </a:r>
            <a:br/>
            <a:r>
              <a:t>classical comparison</a:t>
            </a:r>
          </a:p>
        </p:txBody>
      </p:sp>
      <p:cxnSp>
        <p:nvCxnSpPr>
          <p:cNvPr id="24" name="Connector 23"/>
          <p:cNvCxnSpPr/>
          <p:nvPr/>
        </p:nvCxnSpPr>
        <p:spPr>
          <a:xfrm>
            <a:off x="2487168" y="3081528"/>
            <a:ext cx="347472"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727448" y="3081528"/>
            <a:ext cx="347472"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967727" y="3081528"/>
            <a:ext cx="347473"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208008" y="3081528"/>
            <a:ext cx="347472"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280160" y="4434840"/>
            <a:ext cx="4206240" cy="109728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44751" y="4553712"/>
            <a:ext cx="3877055" cy="320040"/>
          </a:xfrm>
          <a:prstGeom prst="rect">
            <a:avLst/>
          </a:prstGeom>
          <a:noFill/>
        </p:spPr>
        <p:txBody>
          <a:bodyPr wrap="square">
            <a:spAutoFit/>
          </a:bodyPr>
          <a:lstStyle/>
          <a:p>
            <a:pPr>
              <a:defRPr sz="1500" b="1">
                <a:solidFill>
                  <a:srgbClr val="26BED2"/>
                </a:solidFill>
                <a:latin typeface="Aptos"/>
              </a:defRPr>
            </a:pPr>
            <a:r>
              <a:t>SIMULATION BRANCH</a:t>
            </a:r>
          </a:p>
        </p:txBody>
      </p:sp>
      <p:sp>
        <p:nvSpPr>
          <p:cNvPr id="30" name="TextBox 29"/>
          <p:cNvSpPr txBox="1"/>
          <p:nvPr/>
        </p:nvSpPr>
        <p:spPr>
          <a:xfrm>
            <a:off x="1444751" y="4937759"/>
            <a:ext cx="3877055" cy="475487"/>
          </a:xfrm>
          <a:prstGeom prst="rect">
            <a:avLst/>
          </a:prstGeom>
          <a:noFill/>
        </p:spPr>
        <p:txBody>
          <a:bodyPr wrap="square">
            <a:spAutoFit/>
          </a:bodyPr>
          <a:lstStyle/>
          <a:p>
            <a:pPr>
              <a:defRPr sz="1200" b="0">
                <a:solidFill>
                  <a:srgbClr val="F6F9FC"/>
                </a:solidFill>
                <a:latin typeface="Aptos"/>
              </a:defRPr>
            </a:pPr>
            <a:r>
              <a:t>Statevector sampling and synthetic noisy Aer tests.</a:t>
            </a:r>
          </a:p>
        </p:txBody>
      </p:sp>
      <p:sp>
        <p:nvSpPr>
          <p:cNvPr id="31" name="Rounded Rectangle 30"/>
          <p:cNvSpPr/>
          <p:nvPr/>
        </p:nvSpPr>
        <p:spPr>
          <a:xfrm>
            <a:off x="6629400" y="4434840"/>
            <a:ext cx="4206240" cy="1097280"/>
          </a:xfrm>
          <a:prstGeom prst="roundRect">
            <a:avLst/>
          </a:prstGeom>
          <a:solidFill>
            <a:srgbClr val="1A2B48"/>
          </a:solidFill>
          <a:ln>
            <a:solidFill>
              <a:srgbClr val="F7BE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93992" y="4553712"/>
            <a:ext cx="3877055" cy="320040"/>
          </a:xfrm>
          <a:prstGeom prst="rect">
            <a:avLst/>
          </a:prstGeom>
          <a:noFill/>
        </p:spPr>
        <p:txBody>
          <a:bodyPr wrap="square">
            <a:spAutoFit/>
          </a:bodyPr>
          <a:lstStyle/>
          <a:p>
            <a:pPr>
              <a:defRPr sz="1500" b="1">
                <a:solidFill>
                  <a:srgbClr val="F7BE4D"/>
                </a:solidFill>
                <a:latin typeface="Aptos"/>
              </a:defRPr>
            </a:pPr>
            <a:r>
              <a:t>REAL HARDWARE BRANCH</a:t>
            </a:r>
          </a:p>
        </p:txBody>
      </p:sp>
      <p:sp>
        <p:nvSpPr>
          <p:cNvPr id="33" name="TextBox 32"/>
          <p:cNvSpPr txBox="1"/>
          <p:nvPr/>
        </p:nvSpPr>
        <p:spPr>
          <a:xfrm>
            <a:off x="6793992" y="4937759"/>
            <a:ext cx="3877055" cy="475487"/>
          </a:xfrm>
          <a:prstGeom prst="rect">
            <a:avLst/>
          </a:prstGeom>
          <a:noFill/>
        </p:spPr>
        <p:txBody>
          <a:bodyPr wrap="square">
            <a:spAutoFit/>
          </a:bodyPr>
          <a:lstStyle/>
          <a:p>
            <a:pPr>
              <a:defRPr sz="1200" b="0">
                <a:solidFill>
                  <a:srgbClr val="F6F9FC"/>
                </a:solidFill>
                <a:latin typeface="Aptos"/>
              </a:defRPr>
            </a:pPr>
            <a:r>
              <a:t>Recorded IBM Quantum Runtime job on ibm_marrakesh.</a:t>
            </a:r>
          </a:p>
        </p:txBody>
      </p:sp>
      <p:sp>
        <p:nvSpPr>
          <p:cNvPr id="34" name="TextBox 33"/>
          <p:cNvSpPr txBox="1"/>
          <p:nvPr/>
        </p:nvSpPr>
        <p:spPr>
          <a:xfrm>
            <a:off x="914400" y="5852160"/>
            <a:ext cx="10332720" cy="320040"/>
          </a:xfrm>
          <a:prstGeom prst="rect">
            <a:avLst/>
          </a:prstGeom>
          <a:noFill/>
        </p:spPr>
        <p:txBody>
          <a:bodyPr wrap="square">
            <a:spAutoFit/>
          </a:bodyPr>
          <a:lstStyle/>
          <a:p>
            <a:pPr>
              <a:defRPr sz="1200" b="0">
                <a:solidFill>
                  <a:srgbClr val="B7C6DA"/>
                </a:solidFill>
                <a:latin typeface="Aptos"/>
              </a:defRPr>
            </a:pPr>
            <a:r>
              <a:t>Important: the 8-qubit noisy pilot is a simulation; the saved 6-qubit run is the documented real-QPU experiment.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04 / QAOA INTUITION</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QAOA alternates cost and mixing operations</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The circuit parameters are tuned by a classical optimizer using measured or simulated objective values.</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05</a:t>
            </a:r>
          </a:p>
        </p:txBody>
      </p:sp>
      <p:sp>
        <p:nvSpPr>
          <p:cNvPr id="9" name="Rounded Rectangle 8"/>
          <p:cNvSpPr/>
          <p:nvPr/>
        </p:nvSpPr>
        <p:spPr>
          <a:xfrm>
            <a:off x="731520" y="2057400"/>
            <a:ext cx="1828800" cy="114300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76272"/>
            <a:ext cx="1499616" cy="320040"/>
          </a:xfrm>
          <a:prstGeom prst="rect">
            <a:avLst/>
          </a:prstGeom>
          <a:noFill/>
        </p:spPr>
        <p:txBody>
          <a:bodyPr wrap="square">
            <a:spAutoFit/>
          </a:bodyPr>
          <a:lstStyle/>
          <a:p>
            <a:pPr>
              <a:defRPr sz="1500" b="1">
                <a:solidFill>
                  <a:srgbClr val="26BED2"/>
                </a:solidFill>
                <a:latin typeface="Aptos"/>
              </a:defRPr>
            </a:pPr>
            <a:r>
              <a:t>Start</a:t>
            </a:r>
          </a:p>
        </p:txBody>
      </p:sp>
      <p:sp>
        <p:nvSpPr>
          <p:cNvPr id="11" name="TextBox 10"/>
          <p:cNvSpPr txBox="1"/>
          <p:nvPr/>
        </p:nvSpPr>
        <p:spPr>
          <a:xfrm>
            <a:off x="896112" y="2560320"/>
            <a:ext cx="1499616" cy="521207"/>
          </a:xfrm>
          <a:prstGeom prst="rect">
            <a:avLst/>
          </a:prstGeom>
          <a:noFill/>
        </p:spPr>
        <p:txBody>
          <a:bodyPr wrap="square">
            <a:spAutoFit/>
          </a:bodyPr>
          <a:lstStyle/>
          <a:p>
            <a:pPr>
              <a:defRPr sz="1200" b="0">
                <a:solidFill>
                  <a:srgbClr val="F6F9FC"/>
                </a:solidFill>
                <a:latin typeface="Aptos"/>
              </a:defRPr>
            </a:pPr>
            <a:r>
              <a:t>|+⟩ on each qubit</a:t>
            </a:r>
          </a:p>
        </p:txBody>
      </p:sp>
      <p:sp>
        <p:nvSpPr>
          <p:cNvPr id="12" name="Rounded Rectangle 11"/>
          <p:cNvSpPr/>
          <p:nvPr/>
        </p:nvSpPr>
        <p:spPr>
          <a:xfrm>
            <a:off x="2926080" y="2057400"/>
            <a:ext cx="1920240" cy="114300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90672" y="2176272"/>
            <a:ext cx="1591056" cy="320040"/>
          </a:xfrm>
          <a:prstGeom prst="rect">
            <a:avLst/>
          </a:prstGeom>
          <a:noFill/>
        </p:spPr>
        <p:txBody>
          <a:bodyPr wrap="square">
            <a:spAutoFit/>
          </a:bodyPr>
          <a:lstStyle/>
          <a:p>
            <a:pPr>
              <a:defRPr sz="1500" b="1">
                <a:solidFill>
                  <a:srgbClr val="26BED2"/>
                </a:solidFill>
                <a:latin typeface="Aptos"/>
              </a:defRPr>
            </a:pPr>
            <a:r>
              <a:t>Cost unitary</a:t>
            </a:r>
          </a:p>
        </p:txBody>
      </p:sp>
      <p:sp>
        <p:nvSpPr>
          <p:cNvPr id="14" name="TextBox 13"/>
          <p:cNvSpPr txBox="1"/>
          <p:nvPr/>
        </p:nvSpPr>
        <p:spPr>
          <a:xfrm>
            <a:off x="3090672" y="2560320"/>
            <a:ext cx="1591056" cy="521207"/>
          </a:xfrm>
          <a:prstGeom prst="rect">
            <a:avLst/>
          </a:prstGeom>
          <a:noFill/>
        </p:spPr>
        <p:txBody>
          <a:bodyPr wrap="square">
            <a:spAutoFit/>
          </a:bodyPr>
          <a:lstStyle/>
          <a:p>
            <a:pPr>
              <a:defRPr sz="1200" b="0">
                <a:solidFill>
                  <a:srgbClr val="F6F9FC"/>
                </a:solidFill>
                <a:latin typeface="Aptos"/>
              </a:defRPr>
            </a:pPr>
            <a:r>
              <a:t>U_C(γ)</a:t>
            </a:r>
            <a:br/>
            <a:r>
              <a:t>phase from cost</a:t>
            </a:r>
          </a:p>
        </p:txBody>
      </p:sp>
      <p:sp>
        <p:nvSpPr>
          <p:cNvPr id="15" name="Rounded Rectangle 14"/>
          <p:cNvSpPr/>
          <p:nvPr/>
        </p:nvSpPr>
        <p:spPr>
          <a:xfrm>
            <a:off x="5212080" y="2057400"/>
            <a:ext cx="1920240" cy="114300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76672" y="2176272"/>
            <a:ext cx="1591056" cy="320040"/>
          </a:xfrm>
          <a:prstGeom prst="rect">
            <a:avLst/>
          </a:prstGeom>
          <a:noFill/>
        </p:spPr>
        <p:txBody>
          <a:bodyPr wrap="square">
            <a:spAutoFit/>
          </a:bodyPr>
          <a:lstStyle/>
          <a:p>
            <a:pPr>
              <a:defRPr sz="1500" b="1">
                <a:solidFill>
                  <a:srgbClr val="26BED2"/>
                </a:solidFill>
                <a:latin typeface="Aptos"/>
              </a:defRPr>
            </a:pPr>
            <a:r>
              <a:t>Mixer unitary</a:t>
            </a:r>
          </a:p>
        </p:txBody>
      </p:sp>
      <p:sp>
        <p:nvSpPr>
          <p:cNvPr id="17" name="TextBox 16"/>
          <p:cNvSpPr txBox="1"/>
          <p:nvPr/>
        </p:nvSpPr>
        <p:spPr>
          <a:xfrm>
            <a:off x="5376672" y="2560320"/>
            <a:ext cx="1591056" cy="521207"/>
          </a:xfrm>
          <a:prstGeom prst="rect">
            <a:avLst/>
          </a:prstGeom>
          <a:noFill/>
        </p:spPr>
        <p:txBody>
          <a:bodyPr wrap="square">
            <a:spAutoFit/>
          </a:bodyPr>
          <a:lstStyle/>
          <a:p>
            <a:pPr>
              <a:defRPr sz="1200" b="0">
                <a:solidFill>
                  <a:srgbClr val="F6F9FC"/>
                </a:solidFill>
                <a:latin typeface="Aptos"/>
              </a:defRPr>
            </a:pPr>
            <a:r>
              <a:t>U_B(β)</a:t>
            </a:r>
            <a:br/>
            <a:r>
              <a:t>explore bitstrings</a:t>
            </a:r>
          </a:p>
        </p:txBody>
      </p:sp>
      <p:sp>
        <p:nvSpPr>
          <p:cNvPr id="18" name="Rounded Rectangle 17"/>
          <p:cNvSpPr/>
          <p:nvPr/>
        </p:nvSpPr>
        <p:spPr>
          <a:xfrm>
            <a:off x="7498079" y="2057400"/>
            <a:ext cx="1645920" cy="114300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62671" y="2176272"/>
            <a:ext cx="1316736" cy="320040"/>
          </a:xfrm>
          <a:prstGeom prst="rect">
            <a:avLst/>
          </a:prstGeom>
          <a:noFill/>
        </p:spPr>
        <p:txBody>
          <a:bodyPr wrap="square">
            <a:spAutoFit/>
          </a:bodyPr>
          <a:lstStyle/>
          <a:p>
            <a:pPr>
              <a:defRPr sz="1500" b="1">
                <a:solidFill>
                  <a:srgbClr val="26BED2"/>
                </a:solidFill>
                <a:latin typeface="Aptos"/>
              </a:defRPr>
            </a:pPr>
            <a:r>
              <a:t>Measure</a:t>
            </a:r>
          </a:p>
        </p:txBody>
      </p:sp>
      <p:sp>
        <p:nvSpPr>
          <p:cNvPr id="20" name="TextBox 19"/>
          <p:cNvSpPr txBox="1"/>
          <p:nvPr/>
        </p:nvSpPr>
        <p:spPr>
          <a:xfrm>
            <a:off x="7662671" y="2560320"/>
            <a:ext cx="1316736" cy="521207"/>
          </a:xfrm>
          <a:prstGeom prst="rect">
            <a:avLst/>
          </a:prstGeom>
          <a:noFill/>
        </p:spPr>
        <p:txBody>
          <a:bodyPr wrap="square">
            <a:spAutoFit/>
          </a:bodyPr>
          <a:lstStyle/>
          <a:p>
            <a:pPr>
              <a:defRPr sz="1200" b="0">
                <a:solidFill>
                  <a:srgbClr val="F6F9FC"/>
                </a:solidFill>
                <a:latin typeface="Aptos"/>
              </a:defRPr>
            </a:pPr>
            <a:r>
              <a:t>bitstring counts</a:t>
            </a:r>
          </a:p>
        </p:txBody>
      </p:sp>
      <p:sp>
        <p:nvSpPr>
          <p:cNvPr id="21" name="Rounded Rectangle 20"/>
          <p:cNvSpPr/>
          <p:nvPr/>
        </p:nvSpPr>
        <p:spPr>
          <a:xfrm>
            <a:off x="9509760" y="2057400"/>
            <a:ext cx="1920240" cy="114300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74352" y="2176272"/>
            <a:ext cx="1591056" cy="320040"/>
          </a:xfrm>
          <a:prstGeom prst="rect">
            <a:avLst/>
          </a:prstGeom>
          <a:noFill/>
        </p:spPr>
        <p:txBody>
          <a:bodyPr wrap="square">
            <a:spAutoFit/>
          </a:bodyPr>
          <a:lstStyle/>
          <a:p>
            <a:pPr>
              <a:defRPr sz="1500" b="1">
                <a:solidFill>
                  <a:srgbClr val="26BED2"/>
                </a:solidFill>
                <a:latin typeface="Aptos"/>
              </a:defRPr>
            </a:pPr>
            <a:r>
              <a:t>Score</a:t>
            </a:r>
          </a:p>
        </p:txBody>
      </p:sp>
      <p:sp>
        <p:nvSpPr>
          <p:cNvPr id="23" name="TextBox 22"/>
          <p:cNvSpPr txBox="1"/>
          <p:nvPr/>
        </p:nvSpPr>
        <p:spPr>
          <a:xfrm>
            <a:off x="9674352" y="2560320"/>
            <a:ext cx="1591056" cy="521207"/>
          </a:xfrm>
          <a:prstGeom prst="rect">
            <a:avLst/>
          </a:prstGeom>
          <a:noFill/>
        </p:spPr>
        <p:txBody>
          <a:bodyPr wrap="square">
            <a:spAutoFit/>
          </a:bodyPr>
          <a:lstStyle/>
          <a:p>
            <a:pPr>
              <a:defRPr sz="1200" b="0">
                <a:solidFill>
                  <a:srgbClr val="F6F9FC"/>
                </a:solidFill>
                <a:latin typeface="Aptos"/>
              </a:defRPr>
            </a:pPr>
            <a:r>
              <a:t>expected cost</a:t>
            </a:r>
          </a:p>
        </p:txBody>
      </p:sp>
      <p:cxnSp>
        <p:nvCxnSpPr>
          <p:cNvPr id="24" name="Connector 23"/>
          <p:cNvCxnSpPr/>
          <p:nvPr/>
        </p:nvCxnSpPr>
        <p:spPr>
          <a:xfrm>
            <a:off x="2578608" y="2633472"/>
            <a:ext cx="301752"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64608" y="2633472"/>
            <a:ext cx="301752"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150608" y="2633472"/>
            <a:ext cx="301752"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62288" y="2633472"/>
            <a:ext cx="301752" cy="0"/>
          </a:xfrm>
          <a:prstGeom prst="line">
            <a:avLst/>
          </a:prstGeom>
          <a:ln w="25400">
            <a:solidFill>
              <a:srgbClr val="26BED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469880" y="3383280"/>
            <a:ext cx="0" cy="868680"/>
          </a:xfrm>
          <a:prstGeom prst="line">
            <a:avLst/>
          </a:prstGeom>
          <a:ln w="25400">
            <a:solidFill>
              <a:srgbClr val="F7BE4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840480" y="4251960"/>
            <a:ext cx="6629400" cy="0"/>
          </a:xfrm>
          <a:prstGeom prst="line">
            <a:avLst/>
          </a:prstGeom>
          <a:ln w="25400">
            <a:solidFill>
              <a:srgbClr val="F7BE4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840480" y="3383280"/>
            <a:ext cx="0" cy="868680"/>
          </a:xfrm>
          <a:prstGeom prst="line">
            <a:avLst/>
          </a:prstGeom>
          <a:ln w="25400">
            <a:solidFill>
              <a:srgbClr val="F7BE4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160520" y="3950208"/>
            <a:ext cx="4297680" cy="274320"/>
          </a:xfrm>
          <a:prstGeom prst="rect">
            <a:avLst/>
          </a:prstGeom>
          <a:noFill/>
        </p:spPr>
        <p:txBody>
          <a:bodyPr wrap="square">
            <a:spAutoFit/>
          </a:bodyPr>
          <a:lstStyle/>
          <a:p>
            <a:pPr algn="ctr">
              <a:defRPr sz="1200" b="1">
                <a:solidFill>
                  <a:srgbClr val="F7BE4D"/>
                </a:solidFill>
                <a:latin typeface="Aptos"/>
              </a:defRPr>
            </a:pPr>
            <a:r>
              <a:t>Classical optimizer updates γ and β</a:t>
            </a:r>
          </a:p>
        </p:txBody>
      </p:sp>
      <p:sp>
        <p:nvSpPr>
          <p:cNvPr id="32" name="Rounded Rectangle 31"/>
          <p:cNvSpPr/>
          <p:nvPr/>
        </p:nvSpPr>
        <p:spPr>
          <a:xfrm>
            <a:off x="914400" y="4892040"/>
            <a:ext cx="4754880" cy="9601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5010912"/>
            <a:ext cx="4425696" cy="320040"/>
          </a:xfrm>
          <a:prstGeom prst="rect">
            <a:avLst/>
          </a:prstGeom>
          <a:noFill/>
        </p:spPr>
        <p:txBody>
          <a:bodyPr wrap="square">
            <a:spAutoFit/>
          </a:bodyPr>
          <a:lstStyle/>
          <a:p>
            <a:pPr>
              <a:defRPr sz="1500" b="1">
                <a:solidFill>
                  <a:srgbClr val="26BED2"/>
                </a:solidFill>
                <a:latin typeface="Aptos"/>
              </a:defRPr>
            </a:pPr>
            <a:r>
              <a:t>Depth p</a:t>
            </a:r>
          </a:p>
        </p:txBody>
      </p:sp>
      <p:sp>
        <p:nvSpPr>
          <p:cNvPr id="34" name="TextBox 33"/>
          <p:cNvSpPr txBox="1"/>
          <p:nvPr/>
        </p:nvSpPr>
        <p:spPr>
          <a:xfrm>
            <a:off x="1078992" y="5394959"/>
            <a:ext cx="4425696" cy="338328"/>
          </a:xfrm>
          <a:prstGeom prst="rect">
            <a:avLst/>
          </a:prstGeom>
          <a:noFill/>
        </p:spPr>
        <p:txBody>
          <a:bodyPr wrap="square">
            <a:spAutoFit/>
          </a:bodyPr>
          <a:lstStyle/>
          <a:p>
            <a:pPr>
              <a:defRPr sz="1200" b="0">
                <a:solidFill>
                  <a:srgbClr val="F6F9FC"/>
                </a:solidFill>
                <a:latin typeface="Aptos"/>
              </a:defRPr>
            </a:pPr>
            <a:r>
              <a:t>p counts the number of cost/mixer layers. Larger p adds expressive power and circuit cost.</a:t>
            </a:r>
          </a:p>
        </p:txBody>
      </p:sp>
      <p:sp>
        <p:nvSpPr>
          <p:cNvPr id="35" name="Rounded Rectangle 34"/>
          <p:cNvSpPr/>
          <p:nvPr/>
        </p:nvSpPr>
        <p:spPr>
          <a:xfrm>
            <a:off x="6400800" y="4892040"/>
            <a:ext cx="4754880" cy="9601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65392" y="5010912"/>
            <a:ext cx="4425696" cy="320040"/>
          </a:xfrm>
          <a:prstGeom prst="rect">
            <a:avLst/>
          </a:prstGeom>
          <a:noFill/>
        </p:spPr>
        <p:txBody>
          <a:bodyPr wrap="square">
            <a:spAutoFit/>
          </a:bodyPr>
          <a:lstStyle/>
          <a:p>
            <a:pPr>
              <a:defRPr sz="1500" b="1">
                <a:solidFill>
                  <a:srgbClr val="26BED2"/>
                </a:solidFill>
                <a:latin typeface="Aptos"/>
              </a:defRPr>
            </a:pPr>
            <a:r>
              <a:t>Important nuance</a:t>
            </a:r>
          </a:p>
        </p:txBody>
      </p:sp>
      <p:sp>
        <p:nvSpPr>
          <p:cNvPr id="37" name="TextBox 36"/>
          <p:cNvSpPr txBox="1"/>
          <p:nvPr/>
        </p:nvSpPr>
        <p:spPr>
          <a:xfrm>
            <a:off x="6565392" y="5394959"/>
            <a:ext cx="4425696" cy="338328"/>
          </a:xfrm>
          <a:prstGeom prst="rect">
            <a:avLst/>
          </a:prstGeom>
          <a:noFill/>
        </p:spPr>
        <p:txBody>
          <a:bodyPr wrap="square">
            <a:spAutoFit/>
          </a:bodyPr>
          <a:lstStyle/>
          <a:p>
            <a:pPr>
              <a:defRPr sz="1200" b="0">
                <a:solidFill>
                  <a:srgbClr val="F6F9FC"/>
                </a:solidFill>
                <a:latin typeface="Aptos"/>
              </a:defRPr>
            </a:pPr>
            <a:r>
              <a:t>More depth is not guaranteed to improve a finite-shot run; results depend on optimization and sampling.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05 / CONSTRAINTS</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A good score is not enough: the portfolio must be feasible</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For the small benchmark, exactly 3 of 6 assets must be selected.</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06</a:t>
            </a:r>
          </a:p>
        </p:txBody>
      </p:sp>
      <p:sp>
        <p:nvSpPr>
          <p:cNvPr id="9" name="Rounded Rectangle 8"/>
          <p:cNvSpPr/>
          <p:nvPr/>
        </p:nvSpPr>
        <p:spPr>
          <a:xfrm>
            <a:off x="868680" y="2286000"/>
            <a:ext cx="1417320" cy="1005840"/>
          </a:xfrm>
          <a:prstGeom prst="roundRect">
            <a:avLst/>
          </a:prstGeom>
          <a:solidFill>
            <a:srgbClr val="1A2B48"/>
          </a:solidFill>
          <a:ln>
            <a:solidFill>
              <a:srgbClr val="B7C6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04872"/>
            <a:ext cx="1417320" cy="320040"/>
          </a:xfrm>
          <a:prstGeom prst="rect">
            <a:avLst/>
          </a:prstGeom>
          <a:noFill/>
        </p:spPr>
        <p:txBody>
          <a:bodyPr wrap="square">
            <a:spAutoFit/>
          </a:bodyPr>
          <a:lstStyle/>
          <a:p>
            <a:pPr algn="ctr">
              <a:defRPr sz="1300" b="1">
                <a:solidFill>
                  <a:srgbClr val="F6F9FC"/>
                </a:solidFill>
                <a:latin typeface="Aptos"/>
              </a:defRPr>
            </a:pPr>
            <a:r>
              <a:t>Asset 1</a:t>
            </a:r>
          </a:p>
        </p:txBody>
      </p:sp>
      <p:sp>
        <p:nvSpPr>
          <p:cNvPr id="11" name="TextBox 10"/>
          <p:cNvSpPr txBox="1"/>
          <p:nvPr/>
        </p:nvSpPr>
        <p:spPr>
          <a:xfrm>
            <a:off x="868680" y="2788920"/>
            <a:ext cx="1417320" cy="274320"/>
          </a:xfrm>
          <a:prstGeom prst="rect">
            <a:avLst/>
          </a:prstGeom>
          <a:noFill/>
        </p:spPr>
        <p:txBody>
          <a:bodyPr wrap="square">
            <a:spAutoFit/>
          </a:bodyPr>
          <a:lstStyle/>
          <a:p>
            <a:pPr algn="ctr">
              <a:defRPr sz="1100" b="1">
                <a:solidFill>
                  <a:srgbClr val="B7C6DA"/>
                </a:solidFill>
                <a:latin typeface="Aptos"/>
              </a:defRPr>
            </a:pPr>
            <a:r>
              <a:t>SKIP</a:t>
            </a:r>
          </a:p>
        </p:txBody>
      </p:sp>
      <p:sp>
        <p:nvSpPr>
          <p:cNvPr id="12" name="Rounded Rectangle 11"/>
          <p:cNvSpPr/>
          <p:nvPr/>
        </p:nvSpPr>
        <p:spPr>
          <a:xfrm>
            <a:off x="2743200" y="2286000"/>
            <a:ext cx="1417320" cy="1005840"/>
          </a:xfrm>
          <a:prstGeom prst="roundRect">
            <a:avLst/>
          </a:prstGeom>
          <a:solidFill>
            <a:srgbClr val="64CDA0"/>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2404872"/>
            <a:ext cx="1417320" cy="320040"/>
          </a:xfrm>
          <a:prstGeom prst="rect">
            <a:avLst/>
          </a:prstGeom>
          <a:noFill/>
        </p:spPr>
        <p:txBody>
          <a:bodyPr wrap="square">
            <a:spAutoFit/>
          </a:bodyPr>
          <a:lstStyle/>
          <a:p>
            <a:pPr algn="ctr">
              <a:defRPr sz="1300" b="1">
                <a:solidFill>
                  <a:srgbClr val="0E1930"/>
                </a:solidFill>
                <a:latin typeface="Aptos"/>
              </a:defRPr>
            </a:pPr>
            <a:r>
              <a:t>Asset 2</a:t>
            </a:r>
          </a:p>
        </p:txBody>
      </p:sp>
      <p:sp>
        <p:nvSpPr>
          <p:cNvPr id="14" name="TextBox 13"/>
          <p:cNvSpPr txBox="1"/>
          <p:nvPr/>
        </p:nvSpPr>
        <p:spPr>
          <a:xfrm>
            <a:off x="2743200" y="2788920"/>
            <a:ext cx="1417320" cy="274320"/>
          </a:xfrm>
          <a:prstGeom prst="rect">
            <a:avLst/>
          </a:prstGeom>
          <a:noFill/>
        </p:spPr>
        <p:txBody>
          <a:bodyPr wrap="square">
            <a:spAutoFit/>
          </a:bodyPr>
          <a:lstStyle/>
          <a:p>
            <a:pPr algn="ctr">
              <a:defRPr sz="1100" b="1">
                <a:solidFill>
                  <a:srgbClr val="0E1930"/>
                </a:solidFill>
                <a:latin typeface="Aptos"/>
              </a:defRPr>
            </a:pPr>
            <a:r>
              <a:t>SELECT</a:t>
            </a:r>
          </a:p>
        </p:txBody>
      </p:sp>
      <p:sp>
        <p:nvSpPr>
          <p:cNvPr id="15" name="Rounded Rectangle 14"/>
          <p:cNvSpPr/>
          <p:nvPr/>
        </p:nvSpPr>
        <p:spPr>
          <a:xfrm>
            <a:off x="4617720" y="2286000"/>
            <a:ext cx="1417320" cy="1005840"/>
          </a:xfrm>
          <a:prstGeom prst="roundRect">
            <a:avLst/>
          </a:prstGeom>
          <a:solidFill>
            <a:srgbClr val="64CDA0"/>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404872"/>
            <a:ext cx="1417320" cy="320040"/>
          </a:xfrm>
          <a:prstGeom prst="rect">
            <a:avLst/>
          </a:prstGeom>
          <a:noFill/>
        </p:spPr>
        <p:txBody>
          <a:bodyPr wrap="square">
            <a:spAutoFit/>
          </a:bodyPr>
          <a:lstStyle/>
          <a:p>
            <a:pPr algn="ctr">
              <a:defRPr sz="1300" b="1">
                <a:solidFill>
                  <a:srgbClr val="0E1930"/>
                </a:solidFill>
                <a:latin typeface="Aptos"/>
              </a:defRPr>
            </a:pPr>
            <a:r>
              <a:t>Asset 3</a:t>
            </a:r>
          </a:p>
        </p:txBody>
      </p:sp>
      <p:sp>
        <p:nvSpPr>
          <p:cNvPr id="17" name="TextBox 16"/>
          <p:cNvSpPr txBox="1"/>
          <p:nvPr/>
        </p:nvSpPr>
        <p:spPr>
          <a:xfrm>
            <a:off x="4617720" y="2788920"/>
            <a:ext cx="1417320" cy="274320"/>
          </a:xfrm>
          <a:prstGeom prst="rect">
            <a:avLst/>
          </a:prstGeom>
          <a:noFill/>
        </p:spPr>
        <p:txBody>
          <a:bodyPr wrap="square">
            <a:spAutoFit/>
          </a:bodyPr>
          <a:lstStyle/>
          <a:p>
            <a:pPr algn="ctr">
              <a:defRPr sz="1100" b="1">
                <a:solidFill>
                  <a:srgbClr val="0E1930"/>
                </a:solidFill>
                <a:latin typeface="Aptos"/>
              </a:defRPr>
            </a:pPr>
            <a:r>
              <a:t>SELECT</a:t>
            </a:r>
          </a:p>
        </p:txBody>
      </p:sp>
      <p:sp>
        <p:nvSpPr>
          <p:cNvPr id="18" name="Rounded Rectangle 17"/>
          <p:cNvSpPr/>
          <p:nvPr/>
        </p:nvSpPr>
        <p:spPr>
          <a:xfrm>
            <a:off x="6492240" y="2286000"/>
            <a:ext cx="1417320" cy="1005840"/>
          </a:xfrm>
          <a:prstGeom prst="roundRect">
            <a:avLst/>
          </a:prstGeom>
          <a:solidFill>
            <a:srgbClr val="1A2B48"/>
          </a:solidFill>
          <a:ln>
            <a:solidFill>
              <a:srgbClr val="B7C6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404872"/>
            <a:ext cx="1417320" cy="320040"/>
          </a:xfrm>
          <a:prstGeom prst="rect">
            <a:avLst/>
          </a:prstGeom>
          <a:noFill/>
        </p:spPr>
        <p:txBody>
          <a:bodyPr wrap="square">
            <a:spAutoFit/>
          </a:bodyPr>
          <a:lstStyle/>
          <a:p>
            <a:pPr algn="ctr">
              <a:defRPr sz="1300" b="1">
                <a:solidFill>
                  <a:srgbClr val="F6F9FC"/>
                </a:solidFill>
                <a:latin typeface="Aptos"/>
              </a:defRPr>
            </a:pPr>
            <a:r>
              <a:t>Asset 4</a:t>
            </a:r>
          </a:p>
        </p:txBody>
      </p:sp>
      <p:sp>
        <p:nvSpPr>
          <p:cNvPr id="20" name="TextBox 19"/>
          <p:cNvSpPr txBox="1"/>
          <p:nvPr/>
        </p:nvSpPr>
        <p:spPr>
          <a:xfrm>
            <a:off x="6492240" y="2788920"/>
            <a:ext cx="1417320" cy="274320"/>
          </a:xfrm>
          <a:prstGeom prst="rect">
            <a:avLst/>
          </a:prstGeom>
          <a:noFill/>
        </p:spPr>
        <p:txBody>
          <a:bodyPr wrap="square">
            <a:spAutoFit/>
          </a:bodyPr>
          <a:lstStyle/>
          <a:p>
            <a:pPr algn="ctr">
              <a:defRPr sz="1100" b="1">
                <a:solidFill>
                  <a:srgbClr val="B7C6DA"/>
                </a:solidFill>
                <a:latin typeface="Aptos"/>
              </a:defRPr>
            </a:pPr>
            <a:r>
              <a:t>SKIP</a:t>
            </a:r>
          </a:p>
        </p:txBody>
      </p:sp>
      <p:sp>
        <p:nvSpPr>
          <p:cNvPr id="21" name="Rounded Rectangle 20"/>
          <p:cNvSpPr/>
          <p:nvPr/>
        </p:nvSpPr>
        <p:spPr>
          <a:xfrm>
            <a:off x="8366759" y="2286000"/>
            <a:ext cx="1417320" cy="1005840"/>
          </a:xfrm>
          <a:prstGeom prst="roundRect">
            <a:avLst/>
          </a:prstGeom>
          <a:solidFill>
            <a:srgbClr val="1A2B48"/>
          </a:solidFill>
          <a:ln>
            <a:solidFill>
              <a:srgbClr val="B7C6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59" y="2404872"/>
            <a:ext cx="1417320" cy="320040"/>
          </a:xfrm>
          <a:prstGeom prst="rect">
            <a:avLst/>
          </a:prstGeom>
          <a:noFill/>
        </p:spPr>
        <p:txBody>
          <a:bodyPr wrap="square">
            <a:spAutoFit/>
          </a:bodyPr>
          <a:lstStyle/>
          <a:p>
            <a:pPr algn="ctr">
              <a:defRPr sz="1300" b="1">
                <a:solidFill>
                  <a:srgbClr val="F6F9FC"/>
                </a:solidFill>
                <a:latin typeface="Aptos"/>
              </a:defRPr>
            </a:pPr>
            <a:r>
              <a:t>Asset 5</a:t>
            </a:r>
          </a:p>
        </p:txBody>
      </p:sp>
      <p:sp>
        <p:nvSpPr>
          <p:cNvPr id="23" name="TextBox 22"/>
          <p:cNvSpPr txBox="1"/>
          <p:nvPr/>
        </p:nvSpPr>
        <p:spPr>
          <a:xfrm>
            <a:off x="8366759" y="2788920"/>
            <a:ext cx="1417320" cy="274320"/>
          </a:xfrm>
          <a:prstGeom prst="rect">
            <a:avLst/>
          </a:prstGeom>
          <a:noFill/>
        </p:spPr>
        <p:txBody>
          <a:bodyPr wrap="square">
            <a:spAutoFit/>
          </a:bodyPr>
          <a:lstStyle/>
          <a:p>
            <a:pPr algn="ctr">
              <a:defRPr sz="1100" b="1">
                <a:solidFill>
                  <a:srgbClr val="B7C6DA"/>
                </a:solidFill>
                <a:latin typeface="Aptos"/>
              </a:defRPr>
            </a:pPr>
            <a:r>
              <a:t>SKIP</a:t>
            </a:r>
          </a:p>
        </p:txBody>
      </p:sp>
      <p:sp>
        <p:nvSpPr>
          <p:cNvPr id="24" name="Rounded Rectangle 23"/>
          <p:cNvSpPr/>
          <p:nvPr/>
        </p:nvSpPr>
        <p:spPr>
          <a:xfrm>
            <a:off x="10241280" y="2286000"/>
            <a:ext cx="1417320" cy="1005840"/>
          </a:xfrm>
          <a:prstGeom prst="roundRect">
            <a:avLst/>
          </a:prstGeom>
          <a:solidFill>
            <a:srgbClr val="64CDA0"/>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0" y="2404872"/>
            <a:ext cx="1417320" cy="320040"/>
          </a:xfrm>
          <a:prstGeom prst="rect">
            <a:avLst/>
          </a:prstGeom>
          <a:noFill/>
        </p:spPr>
        <p:txBody>
          <a:bodyPr wrap="square">
            <a:spAutoFit/>
          </a:bodyPr>
          <a:lstStyle/>
          <a:p>
            <a:pPr algn="ctr">
              <a:defRPr sz="1300" b="1">
                <a:solidFill>
                  <a:srgbClr val="0E1930"/>
                </a:solidFill>
                <a:latin typeface="Aptos"/>
              </a:defRPr>
            </a:pPr>
            <a:r>
              <a:t>Asset 6</a:t>
            </a:r>
          </a:p>
        </p:txBody>
      </p:sp>
      <p:sp>
        <p:nvSpPr>
          <p:cNvPr id="26" name="TextBox 25"/>
          <p:cNvSpPr txBox="1"/>
          <p:nvPr/>
        </p:nvSpPr>
        <p:spPr>
          <a:xfrm>
            <a:off x="10241280" y="2788920"/>
            <a:ext cx="1417320" cy="274320"/>
          </a:xfrm>
          <a:prstGeom prst="rect">
            <a:avLst/>
          </a:prstGeom>
          <a:noFill/>
        </p:spPr>
        <p:txBody>
          <a:bodyPr wrap="square">
            <a:spAutoFit/>
          </a:bodyPr>
          <a:lstStyle/>
          <a:p>
            <a:pPr algn="ctr">
              <a:defRPr sz="1100" b="1">
                <a:solidFill>
                  <a:srgbClr val="0E1930"/>
                </a:solidFill>
                <a:latin typeface="Aptos"/>
              </a:defRPr>
            </a:pPr>
            <a:r>
              <a:t>SELECT</a:t>
            </a:r>
          </a:p>
        </p:txBody>
      </p:sp>
      <p:sp>
        <p:nvSpPr>
          <p:cNvPr id="27" name="TextBox 26"/>
          <p:cNvSpPr txBox="1"/>
          <p:nvPr/>
        </p:nvSpPr>
        <p:spPr>
          <a:xfrm>
            <a:off x="868680" y="3657600"/>
            <a:ext cx="10241280" cy="457200"/>
          </a:xfrm>
          <a:prstGeom prst="rect">
            <a:avLst/>
          </a:prstGeom>
          <a:noFill/>
        </p:spPr>
        <p:txBody>
          <a:bodyPr wrap="square">
            <a:spAutoFit/>
          </a:bodyPr>
          <a:lstStyle/>
          <a:p>
            <a:pPr>
              <a:defRPr sz="1800" b="1">
                <a:solidFill>
                  <a:srgbClr val="64CDA0"/>
                </a:solidFill>
                <a:latin typeface="Aptos"/>
              </a:defRPr>
            </a:pPr>
            <a:r>
              <a:t>Exact optimum: assets 2, 3, 6  •  cost = −0.5030146903</a:t>
            </a:r>
          </a:p>
        </p:txBody>
      </p:sp>
      <p:sp>
        <p:nvSpPr>
          <p:cNvPr id="28" name="Rounded Rectangle 27"/>
          <p:cNvSpPr/>
          <p:nvPr/>
        </p:nvSpPr>
        <p:spPr>
          <a:xfrm>
            <a:off x="914400" y="4434840"/>
            <a:ext cx="4846320" cy="10515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992" y="4553712"/>
            <a:ext cx="4517136" cy="320040"/>
          </a:xfrm>
          <a:prstGeom prst="rect">
            <a:avLst/>
          </a:prstGeom>
          <a:noFill/>
        </p:spPr>
        <p:txBody>
          <a:bodyPr wrap="square">
            <a:spAutoFit/>
          </a:bodyPr>
          <a:lstStyle/>
          <a:p>
            <a:pPr>
              <a:defRPr sz="1500" b="1">
                <a:solidFill>
                  <a:srgbClr val="26BED2"/>
                </a:solidFill>
                <a:latin typeface="Aptos"/>
              </a:defRPr>
            </a:pPr>
            <a:r>
              <a:t>Feasibility</a:t>
            </a:r>
          </a:p>
        </p:txBody>
      </p:sp>
      <p:sp>
        <p:nvSpPr>
          <p:cNvPr id="30" name="TextBox 29"/>
          <p:cNvSpPr txBox="1"/>
          <p:nvPr/>
        </p:nvSpPr>
        <p:spPr>
          <a:xfrm>
            <a:off x="1078992" y="4937759"/>
            <a:ext cx="4517136" cy="429767"/>
          </a:xfrm>
          <a:prstGeom prst="rect">
            <a:avLst/>
          </a:prstGeom>
          <a:noFill/>
        </p:spPr>
        <p:txBody>
          <a:bodyPr wrap="square">
            <a:spAutoFit/>
          </a:bodyPr>
          <a:lstStyle/>
          <a:p>
            <a:pPr>
              <a:defRPr sz="1200" b="0">
                <a:solidFill>
                  <a:srgbClr val="F6F9FC"/>
                </a:solidFill>
                <a:latin typeface="Aptos"/>
              </a:defRPr>
            </a:pPr>
            <a:r>
              <a:t>Exactly K assets selected; otherwise the candidate violates the cardinality constraint.</a:t>
            </a:r>
          </a:p>
        </p:txBody>
      </p:sp>
      <p:sp>
        <p:nvSpPr>
          <p:cNvPr id="31" name="Rounded Rectangle 30"/>
          <p:cNvSpPr/>
          <p:nvPr/>
        </p:nvSpPr>
        <p:spPr>
          <a:xfrm>
            <a:off x="6400800" y="4434840"/>
            <a:ext cx="4846320" cy="10515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65392" y="4553712"/>
            <a:ext cx="4517136" cy="320040"/>
          </a:xfrm>
          <a:prstGeom prst="rect">
            <a:avLst/>
          </a:prstGeom>
          <a:noFill/>
        </p:spPr>
        <p:txBody>
          <a:bodyPr wrap="square">
            <a:spAutoFit/>
          </a:bodyPr>
          <a:lstStyle/>
          <a:p>
            <a:pPr>
              <a:defRPr sz="1500" b="1">
                <a:solidFill>
                  <a:srgbClr val="26BED2"/>
                </a:solidFill>
                <a:latin typeface="Aptos"/>
              </a:defRPr>
            </a:pPr>
            <a:r>
              <a:t>Penalty λ</a:t>
            </a:r>
          </a:p>
        </p:txBody>
      </p:sp>
      <p:sp>
        <p:nvSpPr>
          <p:cNvPr id="33" name="TextBox 32"/>
          <p:cNvSpPr txBox="1"/>
          <p:nvPr/>
        </p:nvSpPr>
        <p:spPr>
          <a:xfrm>
            <a:off x="6565392" y="4937759"/>
            <a:ext cx="4517136" cy="429767"/>
          </a:xfrm>
          <a:prstGeom prst="rect">
            <a:avLst/>
          </a:prstGeom>
          <a:noFill/>
        </p:spPr>
        <p:txBody>
          <a:bodyPr wrap="square">
            <a:spAutoFit/>
          </a:bodyPr>
          <a:lstStyle/>
          <a:p>
            <a:pPr>
              <a:defRPr sz="1200" b="0">
                <a:solidFill>
                  <a:srgbClr val="F6F9FC"/>
                </a:solidFill>
                <a:latin typeface="Aptos"/>
              </a:defRPr>
            </a:pPr>
            <a:r>
              <a:t>A penalty makes invalid portfolios costly, but too small or too large a λ can change sampling behaviour.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06 / RESULTS · QAOA DEPTH</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Feasibility varies with QAOA depth</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Each depth has 4,096 recorded simulator shots; a feasible sample selects exactly three assets.</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07</a:t>
            </a:r>
          </a:p>
        </p:txBody>
      </p:sp>
      <p:pic>
        <p:nvPicPr>
          <p:cNvPr id="9" name="Picture 8" descr="feasibility_by_depth.png"/>
          <p:cNvPicPr>
            <a:picLocks noChangeAspect="1"/>
          </p:cNvPicPr>
          <p:nvPr/>
        </p:nvPicPr>
        <p:blipFill>
          <a:blip r:embed="rId2"/>
          <a:stretch>
            <a:fillRect/>
          </a:stretch>
        </p:blipFill>
        <p:spPr>
          <a:xfrm>
            <a:off x="685800" y="1828800"/>
            <a:ext cx="6400800" cy="3794760"/>
          </a:xfrm>
          <a:prstGeom prst="rect">
            <a:avLst/>
          </a:prstGeom>
        </p:spPr>
      </p:pic>
      <p:sp>
        <p:nvSpPr>
          <p:cNvPr id="10" name="Rounded Rectangle 9"/>
          <p:cNvSpPr/>
          <p:nvPr/>
        </p:nvSpPr>
        <p:spPr>
          <a:xfrm>
            <a:off x="7406640" y="2011680"/>
            <a:ext cx="4023360" cy="1234440"/>
          </a:xfrm>
          <a:prstGeom prst="roundRect">
            <a:avLst/>
          </a:prstGeom>
          <a:solidFill>
            <a:srgbClr val="1A2B48"/>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71231" y="2130552"/>
            <a:ext cx="3694176" cy="320040"/>
          </a:xfrm>
          <a:prstGeom prst="rect">
            <a:avLst/>
          </a:prstGeom>
          <a:noFill/>
        </p:spPr>
        <p:txBody>
          <a:bodyPr wrap="square">
            <a:spAutoFit/>
          </a:bodyPr>
          <a:lstStyle/>
          <a:p>
            <a:pPr>
              <a:defRPr sz="1500" b="1">
                <a:solidFill>
                  <a:srgbClr val="64CDA0"/>
                </a:solidFill>
                <a:latin typeface="Aptos"/>
              </a:defRPr>
            </a:pPr>
            <a:r>
              <a:t>BEST FEASIBLE RATE</a:t>
            </a:r>
          </a:p>
        </p:txBody>
      </p:sp>
      <p:sp>
        <p:nvSpPr>
          <p:cNvPr id="12" name="TextBox 11"/>
          <p:cNvSpPr txBox="1"/>
          <p:nvPr/>
        </p:nvSpPr>
        <p:spPr>
          <a:xfrm>
            <a:off x="7571231" y="2514600"/>
            <a:ext cx="3694176" cy="612648"/>
          </a:xfrm>
          <a:prstGeom prst="rect">
            <a:avLst/>
          </a:prstGeom>
          <a:noFill/>
        </p:spPr>
        <p:txBody>
          <a:bodyPr wrap="square">
            <a:spAutoFit/>
          </a:bodyPr>
          <a:lstStyle/>
          <a:p>
            <a:pPr>
              <a:defRPr sz="1200" b="0">
                <a:solidFill>
                  <a:srgbClr val="F6F9FC"/>
                </a:solidFill>
                <a:latin typeface="Aptos"/>
              </a:defRPr>
            </a:pPr>
            <a:r>
              <a:t>p = 2: 95.87% of samples were feasible in this recorded run.</a:t>
            </a:r>
          </a:p>
        </p:txBody>
      </p:sp>
      <p:sp>
        <p:nvSpPr>
          <p:cNvPr id="13" name="Rounded Rectangle 12"/>
          <p:cNvSpPr/>
          <p:nvPr/>
        </p:nvSpPr>
        <p:spPr>
          <a:xfrm>
            <a:off x="7406640" y="3566160"/>
            <a:ext cx="4023360" cy="137160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3685032"/>
            <a:ext cx="3694176" cy="320040"/>
          </a:xfrm>
          <a:prstGeom prst="rect">
            <a:avLst/>
          </a:prstGeom>
          <a:noFill/>
        </p:spPr>
        <p:txBody>
          <a:bodyPr wrap="square">
            <a:spAutoFit/>
          </a:bodyPr>
          <a:lstStyle/>
          <a:p>
            <a:pPr>
              <a:defRPr sz="1500" b="1">
                <a:solidFill>
                  <a:srgbClr val="26BED2"/>
                </a:solidFill>
                <a:latin typeface="Aptos"/>
              </a:defRPr>
            </a:pPr>
            <a:r>
              <a:t>BEST-PORTFOLIO HIT RATE</a:t>
            </a:r>
          </a:p>
        </p:txBody>
      </p:sp>
      <p:sp>
        <p:nvSpPr>
          <p:cNvPr id="15" name="TextBox 14"/>
          <p:cNvSpPr txBox="1"/>
          <p:nvPr/>
        </p:nvSpPr>
        <p:spPr>
          <a:xfrm>
            <a:off x="7571231" y="4069080"/>
            <a:ext cx="3694176" cy="749808"/>
          </a:xfrm>
          <a:prstGeom prst="rect">
            <a:avLst/>
          </a:prstGeom>
          <a:noFill/>
        </p:spPr>
        <p:txBody>
          <a:bodyPr wrap="square">
            <a:spAutoFit/>
          </a:bodyPr>
          <a:lstStyle/>
          <a:p>
            <a:pPr>
              <a:defRPr sz="1200" b="0">
                <a:solidFill>
                  <a:srgbClr val="F6F9FC"/>
                </a:solidFill>
                <a:latin typeface="Aptos"/>
              </a:defRPr>
            </a:pPr>
            <a:r>
              <a:t>p = 2: 183 / 4,096 shots = 4.47% matched the exact optimum.</a:t>
            </a:r>
          </a:p>
        </p:txBody>
      </p:sp>
      <p:sp>
        <p:nvSpPr>
          <p:cNvPr id="16" name="TextBox 15"/>
          <p:cNvSpPr txBox="1"/>
          <p:nvPr/>
        </p:nvSpPr>
        <p:spPr>
          <a:xfrm>
            <a:off x="7498079" y="5303520"/>
            <a:ext cx="3840480" cy="594360"/>
          </a:xfrm>
          <a:prstGeom prst="rect">
            <a:avLst/>
          </a:prstGeom>
          <a:noFill/>
        </p:spPr>
        <p:txBody>
          <a:bodyPr wrap="square">
            <a:spAutoFit/>
          </a:bodyPr>
          <a:lstStyle/>
          <a:p>
            <a:pPr>
              <a:defRPr sz="1200" b="0">
                <a:solidFill>
                  <a:srgbClr val="B7C6DA"/>
                </a:solidFill>
                <a:latin typeface="Aptos"/>
              </a:defRPr>
            </a:pPr>
            <a:r>
              <a:t>This is a finite-shot simulator result, not a hardware comparison.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07 / RESULTS · PENALTY SWEEP</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Penalty strength changes the feasible-sample rate</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Recorded 4,096-shot evaluations for each tested λ.</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08</a:t>
            </a:r>
          </a:p>
        </p:txBody>
      </p:sp>
      <p:pic>
        <p:nvPicPr>
          <p:cNvPr id="9" name="Picture 8" descr="penalty_sweep.png"/>
          <p:cNvPicPr>
            <a:picLocks noChangeAspect="1"/>
          </p:cNvPicPr>
          <p:nvPr/>
        </p:nvPicPr>
        <p:blipFill>
          <a:blip r:embed="rId2"/>
          <a:stretch>
            <a:fillRect/>
          </a:stretch>
        </p:blipFill>
        <p:spPr>
          <a:xfrm>
            <a:off x="685800" y="1828800"/>
            <a:ext cx="6400800" cy="3794760"/>
          </a:xfrm>
          <a:prstGeom prst="rect">
            <a:avLst/>
          </a:prstGeom>
        </p:spPr>
      </p:pic>
      <p:sp>
        <p:nvSpPr>
          <p:cNvPr id="10" name="Rounded Rectangle 9"/>
          <p:cNvSpPr/>
          <p:nvPr/>
        </p:nvSpPr>
        <p:spPr>
          <a:xfrm>
            <a:off x="7406640" y="2057400"/>
            <a:ext cx="4023360" cy="1143000"/>
          </a:xfrm>
          <a:prstGeom prst="roundRect">
            <a:avLst/>
          </a:prstGeom>
          <a:solidFill>
            <a:srgbClr val="1A2B48"/>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71231" y="2176272"/>
            <a:ext cx="3694176" cy="320040"/>
          </a:xfrm>
          <a:prstGeom prst="rect">
            <a:avLst/>
          </a:prstGeom>
          <a:noFill/>
        </p:spPr>
        <p:txBody>
          <a:bodyPr wrap="square">
            <a:spAutoFit/>
          </a:bodyPr>
          <a:lstStyle/>
          <a:p>
            <a:pPr>
              <a:defRPr sz="1500" b="1">
                <a:solidFill>
                  <a:srgbClr val="64CDA0"/>
                </a:solidFill>
                <a:latin typeface="Aptos"/>
              </a:defRPr>
            </a:pPr>
            <a:r>
              <a:t>HIGHEST OBSERVED</a:t>
            </a:r>
          </a:p>
        </p:txBody>
      </p:sp>
      <p:sp>
        <p:nvSpPr>
          <p:cNvPr id="12" name="TextBox 11"/>
          <p:cNvSpPr txBox="1"/>
          <p:nvPr/>
        </p:nvSpPr>
        <p:spPr>
          <a:xfrm>
            <a:off x="7571231" y="2560320"/>
            <a:ext cx="3694176" cy="521207"/>
          </a:xfrm>
          <a:prstGeom prst="rect">
            <a:avLst/>
          </a:prstGeom>
          <a:noFill/>
        </p:spPr>
        <p:txBody>
          <a:bodyPr wrap="square">
            <a:spAutoFit/>
          </a:bodyPr>
          <a:lstStyle/>
          <a:p>
            <a:pPr>
              <a:defRPr sz="1200" b="0">
                <a:solidFill>
                  <a:srgbClr val="F6F9FC"/>
                </a:solidFill>
                <a:latin typeface="Aptos"/>
              </a:defRPr>
            </a:pPr>
            <a:r>
              <a:t>λ = 5.0 → 67.87% feasible samples in this sweep.</a:t>
            </a:r>
          </a:p>
        </p:txBody>
      </p:sp>
      <p:sp>
        <p:nvSpPr>
          <p:cNvPr id="13" name="Rounded Rectangle 12"/>
          <p:cNvSpPr/>
          <p:nvPr/>
        </p:nvSpPr>
        <p:spPr>
          <a:xfrm>
            <a:off x="7406640" y="3566160"/>
            <a:ext cx="4023360" cy="1325880"/>
          </a:xfrm>
          <a:prstGeom prst="roundRect">
            <a:avLst/>
          </a:prstGeom>
          <a:solidFill>
            <a:srgbClr val="1A2B48"/>
          </a:solidFill>
          <a:ln>
            <a:solidFill>
              <a:srgbClr val="F7BE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3685032"/>
            <a:ext cx="3694176" cy="320040"/>
          </a:xfrm>
          <a:prstGeom prst="rect">
            <a:avLst/>
          </a:prstGeom>
          <a:noFill/>
        </p:spPr>
        <p:txBody>
          <a:bodyPr wrap="square">
            <a:spAutoFit/>
          </a:bodyPr>
          <a:lstStyle/>
          <a:p>
            <a:pPr>
              <a:defRPr sz="1500" b="1">
                <a:solidFill>
                  <a:srgbClr val="F7BE4D"/>
                </a:solidFill>
                <a:latin typeface="Aptos"/>
              </a:defRPr>
            </a:pPr>
            <a:r>
              <a:t>NOT MONOTONIC</a:t>
            </a:r>
          </a:p>
        </p:txBody>
      </p:sp>
      <p:sp>
        <p:nvSpPr>
          <p:cNvPr id="15" name="TextBox 14"/>
          <p:cNvSpPr txBox="1"/>
          <p:nvPr/>
        </p:nvSpPr>
        <p:spPr>
          <a:xfrm>
            <a:off x="7571231" y="4069080"/>
            <a:ext cx="3694176" cy="704087"/>
          </a:xfrm>
          <a:prstGeom prst="rect">
            <a:avLst/>
          </a:prstGeom>
          <a:noFill/>
        </p:spPr>
        <p:txBody>
          <a:bodyPr wrap="square">
            <a:spAutoFit/>
          </a:bodyPr>
          <a:lstStyle/>
          <a:p>
            <a:pPr>
              <a:defRPr sz="1200" b="0">
                <a:solidFill>
                  <a:srgbClr val="F6F9FC"/>
                </a:solidFill>
                <a:latin typeface="Aptos"/>
              </a:defRPr>
            </a:pPr>
            <a:r>
              <a:t>λ = 0.5 gives 18.68%; λ = 10 gives 20.24%. Bigger penalty does not automatically mean better sampling.</a:t>
            </a:r>
          </a:p>
        </p:txBody>
      </p:sp>
      <p:sp>
        <p:nvSpPr>
          <p:cNvPr id="16" name="TextBox 15"/>
          <p:cNvSpPr txBox="1"/>
          <p:nvPr/>
        </p:nvSpPr>
        <p:spPr>
          <a:xfrm>
            <a:off x="7498079" y="5303520"/>
            <a:ext cx="3840480" cy="594360"/>
          </a:xfrm>
          <a:prstGeom prst="rect">
            <a:avLst/>
          </a:prstGeom>
          <a:noFill/>
        </p:spPr>
        <p:txBody>
          <a:bodyPr wrap="square">
            <a:spAutoFit/>
          </a:bodyPr>
          <a:lstStyle/>
          <a:p>
            <a:pPr>
              <a:defRPr sz="1200" b="0">
                <a:solidFill>
                  <a:srgbClr val="B7C6DA"/>
                </a:solidFill>
                <a:latin typeface="Aptos"/>
              </a:defRPr>
            </a:pPr>
            <a:r>
              <a:t>A parameter sweep is empirical: it identifies promising settings for this instance, not a universal rule.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08 / RESULTS · INTERMEDIATE CASE</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Exact classical search gives a ground-truth reference</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The 12-asset case chooses 6 assets; there are 924 feasible combinations.</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09</a:t>
            </a:r>
          </a:p>
        </p:txBody>
      </p:sp>
      <p:sp>
        <p:nvSpPr>
          <p:cNvPr id="9" name="Rounded Rectangle 8"/>
          <p:cNvSpPr/>
          <p:nvPr/>
        </p:nvSpPr>
        <p:spPr>
          <a:xfrm>
            <a:off x="731520" y="1965960"/>
            <a:ext cx="3291840" cy="12801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84831"/>
            <a:ext cx="2962656" cy="320040"/>
          </a:xfrm>
          <a:prstGeom prst="rect">
            <a:avLst/>
          </a:prstGeom>
          <a:noFill/>
        </p:spPr>
        <p:txBody>
          <a:bodyPr wrap="square">
            <a:spAutoFit/>
          </a:bodyPr>
          <a:lstStyle/>
          <a:p>
            <a:pPr>
              <a:defRPr sz="1500" b="1">
                <a:solidFill>
                  <a:srgbClr val="26BED2"/>
                </a:solidFill>
                <a:latin typeface="Aptos"/>
              </a:defRPr>
            </a:pPr>
            <a:r>
              <a:t>EXACT SEARCH</a:t>
            </a:r>
          </a:p>
        </p:txBody>
      </p:sp>
      <p:sp>
        <p:nvSpPr>
          <p:cNvPr id="11" name="TextBox 10"/>
          <p:cNvSpPr txBox="1"/>
          <p:nvPr/>
        </p:nvSpPr>
        <p:spPr>
          <a:xfrm>
            <a:off x="896112" y="2468880"/>
            <a:ext cx="2962656" cy="658367"/>
          </a:xfrm>
          <a:prstGeom prst="rect">
            <a:avLst/>
          </a:prstGeom>
          <a:noFill/>
        </p:spPr>
        <p:txBody>
          <a:bodyPr wrap="square">
            <a:spAutoFit/>
          </a:bodyPr>
          <a:lstStyle/>
          <a:p>
            <a:pPr>
              <a:defRPr sz="1200" b="0">
                <a:solidFill>
                  <a:srgbClr val="F6F9FC"/>
                </a:solidFill>
                <a:latin typeface="Aptos"/>
              </a:defRPr>
            </a:pPr>
            <a:r>
              <a:t>924 feasible portfolios</a:t>
            </a:r>
            <a:br/>
            <a:r>
              <a:t>fully enumerated</a:t>
            </a:r>
          </a:p>
        </p:txBody>
      </p:sp>
      <p:sp>
        <p:nvSpPr>
          <p:cNvPr id="12" name="Rounded Rectangle 11"/>
          <p:cNvSpPr/>
          <p:nvPr/>
        </p:nvSpPr>
        <p:spPr>
          <a:xfrm>
            <a:off x="4434840" y="1965960"/>
            <a:ext cx="3291840" cy="1280160"/>
          </a:xfrm>
          <a:prstGeom prst="roundRect">
            <a:avLst/>
          </a:prstGeom>
          <a:solidFill>
            <a:srgbClr val="1A2B48"/>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1" y="2084831"/>
            <a:ext cx="2962656" cy="320040"/>
          </a:xfrm>
          <a:prstGeom prst="rect">
            <a:avLst/>
          </a:prstGeom>
          <a:noFill/>
        </p:spPr>
        <p:txBody>
          <a:bodyPr wrap="square">
            <a:spAutoFit/>
          </a:bodyPr>
          <a:lstStyle/>
          <a:p>
            <a:pPr>
              <a:defRPr sz="1500" b="1">
                <a:solidFill>
                  <a:srgbClr val="64CDA0"/>
                </a:solidFill>
                <a:latin typeface="Aptos"/>
              </a:defRPr>
            </a:pPr>
            <a:r>
              <a:t>OPTIMUM COST</a:t>
            </a:r>
          </a:p>
        </p:txBody>
      </p:sp>
      <p:sp>
        <p:nvSpPr>
          <p:cNvPr id="14" name="TextBox 13"/>
          <p:cNvSpPr txBox="1"/>
          <p:nvPr/>
        </p:nvSpPr>
        <p:spPr>
          <a:xfrm>
            <a:off x="4599431" y="2468880"/>
            <a:ext cx="2962656" cy="658367"/>
          </a:xfrm>
          <a:prstGeom prst="rect">
            <a:avLst/>
          </a:prstGeom>
          <a:noFill/>
        </p:spPr>
        <p:txBody>
          <a:bodyPr wrap="square">
            <a:spAutoFit/>
          </a:bodyPr>
          <a:lstStyle/>
          <a:p>
            <a:pPr>
              <a:defRPr sz="1200" b="0">
                <a:solidFill>
                  <a:srgbClr val="F6F9FC"/>
                </a:solidFill>
                <a:latin typeface="Aptos"/>
              </a:defRPr>
            </a:pPr>
            <a:r>
              <a:t>−0.6872192458</a:t>
            </a:r>
            <a:br/>
            <a:r>
              <a:t>exact classical reference</a:t>
            </a:r>
          </a:p>
        </p:txBody>
      </p:sp>
      <p:sp>
        <p:nvSpPr>
          <p:cNvPr id="15" name="Rounded Rectangle 14"/>
          <p:cNvSpPr/>
          <p:nvPr/>
        </p:nvSpPr>
        <p:spPr>
          <a:xfrm>
            <a:off x="8138160" y="1965960"/>
            <a:ext cx="3291840" cy="12801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2084831"/>
            <a:ext cx="2962656" cy="320040"/>
          </a:xfrm>
          <a:prstGeom prst="rect">
            <a:avLst/>
          </a:prstGeom>
          <a:noFill/>
        </p:spPr>
        <p:txBody>
          <a:bodyPr wrap="square">
            <a:spAutoFit/>
          </a:bodyPr>
          <a:lstStyle/>
          <a:p>
            <a:pPr>
              <a:defRPr sz="1500" b="1">
                <a:solidFill>
                  <a:srgbClr val="26BED2"/>
                </a:solidFill>
                <a:latin typeface="Aptos"/>
              </a:defRPr>
            </a:pPr>
            <a:r>
              <a:t>QAOA p = 1</a:t>
            </a:r>
          </a:p>
        </p:txBody>
      </p:sp>
      <p:sp>
        <p:nvSpPr>
          <p:cNvPr id="17" name="TextBox 16"/>
          <p:cNvSpPr txBox="1"/>
          <p:nvPr/>
        </p:nvSpPr>
        <p:spPr>
          <a:xfrm>
            <a:off x="8302752" y="2468880"/>
            <a:ext cx="2962656" cy="658367"/>
          </a:xfrm>
          <a:prstGeom prst="rect">
            <a:avLst/>
          </a:prstGeom>
          <a:noFill/>
        </p:spPr>
        <p:txBody>
          <a:bodyPr wrap="square">
            <a:spAutoFit/>
          </a:bodyPr>
          <a:lstStyle/>
          <a:p>
            <a:pPr>
              <a:defRPr sz="1200" b="0">
                <a:solidFill>
                  <a:srgbClr val="F6F9FC"/>
                </a:solidFill>
                <a:latin typeface="Aptos"/>
              </a:defRPr>
            </a:pPr>
            <a:r>
              <a:t>4,096 shots</a:t>
            </a:r>
            <a:br/>
            <a:r>
              <a:t>exact optimum appeared once</a:t>
            </a:r>
          </a:p>
        </p:txBody>
      </p:sp>
      <p:sp>
        <p:nvSpPr>
          <p:cNvPr id="18" name="TextBox 17"/>
          <p:cNvSpPr txBox="1"/>
          <p:nvPr/>
        </p:nvSpPr>
        <p:spPr>
          <a:xfrm>
            <a:off x="914400" y="3840480"/>
            <a:ext cx="10241280" cy="594360"/>
          </a:xfrm>
          <a:prstGeom prst="rect">
            <a:avLst/>
          </a:prstGeom>
          <a:noFill/>
        </p:spPr>
        <p:txBody>
          <a:bodyPr wrap="square">
            <a:spAutoFit/>
          </a:bodyPr>
          <a:lstStyle/>
          <a:p>
            <a:pPr>
              <a:defRPr sz="2200" b="1">
                <a:solidFill>
                  <a:srgbClr val="F6F9FC"/>
                </a:solidFill>
                <a:latin typeface="Aptos"/>
              </a:defRPr>
            </a:pPr>
            <a:r>
              <a:t>Optimal assets: 1, 4, 6, 8, 9, 12</a:t>
            </a:r>
          </a:p>
        </p:txBody>
      </p:sp>
      <p:sp>
        <p:nvSpPr>
          <p:cNvPr id="19" name="TextBox 18"/>
          <p:cNvSpPr txBox="1"/>
          <p:nvPr/>
        </p:nvSpPr>
        <p:spPr>
          <a:xfrm>
            <a:off x="914400" y="4709160"/>
            <a:ext cx="10149840" cy="914400"/>
          </a:xfrm>
          <a:prstGeom prst="rect">
            <a:avLst/>
          </a:prstGeom>
          <a:noFill/>
        </p:spPr>
        <p:txBody>
          <a:bodyPr wrap="square">
            <a:spAutoFit/>
          </a:bodyPr>
          <a:lstStyle/>
          <a:p>
            <a:pPr>
              <a:defRPr sz="1600" b="0">
                <a:solidFill>
                  <a:srgbClr val="B7C6DA"/>
                </a:solidFill>
                <a:latin typeface="Aptos"/>
              </a:defRPr>
            </a:pPr>
            <a:r>
              <a:t>Why keep the classical baseline? It tells us whether a sampled candidate is optimal, how far it is from the best-known cost, and whether the quantum heuristic adds value on the tested instance.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09 / RESULTS · ADVANCED SCALE</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The 20-asset result is a classical exhaustive benchmark</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It shows how the constraints can be checked at a larger portfolio size without mislabeling it as a quantum result.</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10</a:t>
            </a:r>
          </a:p>
        </p:txBody>
      </p:sp>
      <p:sp>
        <p:nvSpPr>
          <p:cNvPr id="9" name="Rounded Rectangle 8"/>
          <p:cNvSpPr/>
          <p:nvPr/>
        </p:nvSpPr>
        <p:spPr>
          <a:xfrm>
            <a:off x="731520" y="1965960"/>
            <a:ext cx="3291840" cy="12344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84831"/>
            <a:ext cx="2962656" cy="320040"/>
          </a:xfrm>
          <a:prstGeom prst="rect">
            <a:avLst/>
          </a:prstGeom>
          <a:noFill/>
        </p:spPr>
        <p:txBody>
          <a:bodyPr wrap="square">
            <a:spAutoFit/>
          </a:bodyPr>
          <a:lstStyle/>
          <a:p>
            <a:pPr>
              <a:defRPr sz="1500" b="1">
                <a:solidFill>
                  <a:srgbClr val="26BED2"/>
                </a:solidFill>
                <a:latin typeface="Aptos"/>
              </a:defRPr>
            </a:pPr>
            <a:r>
              <a:t>SEARCH SPACE</a:t>
            </a:r>
          </a:p>
        </p:txBody>
      </p:sp>
      <p:sp>
        <p:nvSpPr>
          <p:cNvPr id="11" name="TextBox 10"/>
          <p:cNvSpPr txBox="1"/>
          <p:nvPr/>
        </p:nvSpPr>
        <p:spPr>
          <a:xfrm>
            <a:off x="896112" y="2468880"/>
            <a:ext cx="2962656" cy="612648"/>
          </a:xfrm>
          <a:prstGeom prst="rect">
            <a:avLst/>
          </a:prstGeom>
          <a:noFill/>
        </p:spPr>
        <p:txBody>
          <a:bodyPr wrap="square">
            <a:spAutoFit/>
          </a:bodyPr>
          <a:lstStyle/>
          <a:p>
            <a:pPr>
              <a:defRPr sz="1200" b="0">
                <a:solidFill>
                  <a:srgbClr val="F6F9FC"/>
                </a:solidFill>
                <a:latin typeface="Aptos"/>
              </a:defRPr>
            </a:pPr>
            <a:r>
              <a:t>184,756 combinations</a:t>
            </a:r>
            <a:br/>
            <a:r>
              <a:t>choose 10 from 20</a:t>
            </a:r>
          </a:p>
        </p:txBody>
      </p:sp>
      <p:sp>
        <p:nvSpPr>
          <p:cNvPr id="12" name="Rounded Rectangle 11"/>
          <p:cNvSpPr/>
          <p:nvPr/>
        </p:nvSpPr>
        <p:spPr>
          <a:xfrm>
            <a:off x="4434840" y="1965960"/>
            <a:ext cx="3291840" cy="1234440"/>
          </a:xfrm>
          <a:prstGeom prst="roundRect">
            <a:avLst/>
          </a:prstGeom>
          <a:solidFill>
            <a:srgbClr val="1A2B48"/>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1" y="2084831"/>
            <a:ext cx="2962656" cy="320040"/>
          </a:xfrm>
          <a:prstGeom prst="rect">
            <a:avLst/>
          </a:prstGeom>
          <a:noFill/>
        </p:spPr>
        <p:txBody>
          <a:bodyPr wrap="square">
            <a:spAutoFit/>
          </a:bodyPr>
          <a:lstStyle/>
          <a:p>
            <a:pPr>
              <a:defRPr sz="1500" b="1">
                <a:solidFill>
                  <a:srgbClr val="64CDA0"/>
                </a:solidFill>
                <a:latin typeface="Aptos"/>
              </a:defRPr>
            </a:pPr>
            <a:r>
              <a:t>SECTOR-FEASIBLE</a:t>
            </a:r>
          </a:p>
        </p:txBody>
      </p:sp>
      <p:sp>
        <p:nvSpPr>
          <p:cNvPr id="14" name="TextBox 13"/>
          <p:cNvSpPr txBox="1"/>
          <p:nvPr/>
        </p:nvSpPr>
        <p:spPr>
          <a:xfrm>
            <a:off x="4599431" y="2468880"/>
            <a:ext cx="2962656" cy="612648"/>
          </a:xfrm>
          <a:prstGeom prst="rect">
            <a:avLst/>
          </a:prstGeom>
          <a:noFill/>
        </p:spPr>
        <p:txBody>
          <a:bodyPr wrap="square">
            <a:spAutoFit/>
          </a:bodyPr>
          <a:lstStyle/>
          <a:p>
            <a:pPr>
              <a:defRPr sz="1200" b="0">
                <a:solidFill>
                  <a:srgbClr val="F6F9FC"/>
                </a:solidFill>
                <a:latin typeface="Aptos"/>
              </a:defRPr>
            </a:pPr>
            <a:r>
              <a:t>80,000 portfolios</a:t>
            </a:r>
            <a:br/>
            <a:r>
              <a:t>passed the configured cap</a:t>
            </a:r>
          </a:p>
        </p:txBody>
      </p:sp>
      <p:sp>
        <p:nvSpPr>
          <p:cNvPr id="15" name="Rounded Rectangle 14"/>
          <p:cNvSpPr/>
          <p:nvPr/>
        </p:nvSpPr>
        <p:spPr>
          <a:xfrm>
            <a:off x="8138160" y="1965960"/>
            <a:ext cx="3291840" cy="12344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2084831"/>
            <a:ext cx="2962656" cy="320040"/>
          </a:xfrm>
          <a:prstGeom prst="rect">
            <a:avLst/>
          </a:prstGeom>
          <a:noFill/>
        </p:spPr>
        <p:txBody>
          <a:bodyPr wrap="square">
            <a:spAutoFit/>
          </a:bodyPr>
          <a:lstStyle/>
          <a:p>
            <a:pPr>
              <a:defRPr sz="1500" b="1">
                <a:solidFill>
                  <a:srgbClr val="26BED2"/>
                </a:solidFill>
                <a:latin typeface="Aptos"/>
              </a:defRPr>
            </a:pPr>
            <a:r>
              <a:t>BEST COST</a:t>
            </a:r>
          </a:p>
        </p:txBody>
      </p:sp>
      <p:sp>
        <p:nvSpPr>
          <p:cNvPr id="17" name="TextBox 16"/>
          <p:cNvSpPr txBox="1"/>
          <p:nvPr/>
        </p:nvSpPr>
        <p:spPr>
          <a:xfrm>
            <a:off x="8302752" y="2468880"/>
            <a:ext cx="2962656" cy="612648"/>
          </a:xfrm>
          <a:prstGeom prst="rect">
            <a:avLst/>
          </a:prstGeom>
          <a:noFill/>
        </p:spPr>
        <p:txBody>
          <a:bodyPr wrap="square">
            <a:spAutoFit/>
          </a:bodyPr>
          <a:lstStyle/>
          <a:p>
            <a:pPr>
              <a:defRPr sz="1200" b="0">
                <a:solidFill>
                  <a:srgbClr val="F6F9FC"/>
                </a:solidFill>
                <a:latin typeface="Aptos"/>
              </a:defRPr>
            </a:pPr>
            <a:r>
              <a:t>−1.4913972690</a:t>
            </a:r>
            <a:br/>
            <a:r>
              <a:t>classical exhaustive search</a:t>
            </a:r>
          </a:p>
        </p:txBody>
      </p:sp>
      <p:sp>
        <p:nvSpPr>
          <p:cNvPr id="18" name="TextBox 17"/>
          <p:cNvSpPr txBox="1"/>
          <p:nvPr/>
        </p:nvSpPr>
        <p:spPr>
          <a:xfrm>
            <a:off x="914400" y="3794760"/>
            <a:ext cx="10241280" cy="502920"/>
          </a:xfrm>
          <a:prstGeom prst="rect">
            <a:avLst/>
          </a:prstGeom>
          <a:noFill/>
        </p:spPr>
        <p:txBody>
          <a:bodyPr wrap="square">
            <a:spAutoFit/>
          </a:bodyPr>
          <a:lstStyle/>
          <a:p>
            <a:pPr>
              <a:defRPr sz="1800" b="1">
                <a:solidFill>
                  <a:srgbClr val="F6F9FC"/>
                </a:solidFill>
                <a:latin typeface="Aptos"/>
              </a:defRPr>
            </a:pPr>
            <a:r>
              <a:t>Recorded best portfolio: [1, 2, 5, 6, 7, 8, 12, 14, 15, 20]</a:t>
            </a:r>
          </a:p>
        </p:txBody>
      </p:sp>
      <p:sp>
        <p:nvSpPr>
          <p:cNvPr id="19" name="TextBox 18"/>
          <p:cNvSpPr txBox="1"/>
          <p:nvPr/>
        </p:nvSpPr>
        <p:spPr>
          <a:xfrm>
            <a:off x="914400" y="4617720"/>
            <a:ext cx="10241280" cy="822960"/>
          </a:xfrm>
          <a:prstGeom prst="rect">
            <a:avLst/>
          </a:prstGeom>
          <a:noFill/>
        </p:spPr>
        <p:txBody>
          <a:bodyPr wrap="square">
            <a:spAutoFit/>
          </a:bodyPr>
          <a:lstStyle/>
          <a:p>
            <a:pPr>
              <a:defRPr sz="1500" b="0">
                <a:solidFill>
                  <a:srgbClr val="B7C6DA"/>
                </a:solidFill>
                <a:latin typeface="Aptos"/>
              </a:defRPr>
            </a:pPr>
            <a:r>
              <a:t>This is not a 20-qubit QAOA experiment. Keeping the label explicit makes the evidence more credible and prevents overstating what the quantum circuit actually solved.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10 / RESULTS · NOISE SENSITIVITY</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Synthetic noise reduced the pilot’s feasible rate</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8-qubit pilot, 2,048 shots per simulator; noise settings are illustrative, not calibrated to a device.</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11</a:t>
            </a:r>
          </a:p>
        </p:txBody>
      </p:sp>
      <p:pic>
        <p:nvPicPr>
          <p:cNvPr id="9" name="Picture 8" descr="pilot_ideal_noisy.png"/>
          <p:cNvPicPr>
            <a:picLocks noChangeAspect="1"/>
          </p:cNvPicPr>
          <p:nvPr/>
        </p:nvPicPr>
        <p:blipFill>
          <a:blip r:embed="rId2"/>
          <a:stretch>
            <a:fillRect/>
          </a:stretch>
        </p:blipFill>
        <p:spPr>
          <a:xfrm>
            <a:off x="731520" y="1874519"/>
            <a:ext cx="6400800" cy="3749039"/>
          </a:xfrm>
          <a:prstGeom prst="rect">
            <a:avLst/>
          </a:prstGeom>
        </p:spPr>
      </p:pic>
      <p:sp>
        <p:nvSpPr>
          <p:cNvPr id="10" name="Rounded Rectangle 9"/>
          <p:cNvSpPr/>
          <p:nvPr/>
        </p:nvSpPr>
        <p:spPr>
          <a:xfrm>
            <a:off x="7452360" y="2148840"/>
            <a:ext cx="3886200" cy="11887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16952" y="2267712"/>
            <a:ext cx="3557016" cy="320040"/>
          </a:xfrm>
          <a:prstGeom prst="rect">
            <a:avLst/>
          </a:prstGeom>
          <a:noFill/>
        </p:spPr>
        <p:txBody>
          <a:bodyPr wrap="square">
            <a:spAutoFit/>
          </a:bodyPr>
          <a:lstStyle/>
          <a:p>
            <a:pPr>
              <a:defRPr sz="1500" b="1">
                <a:solidFill>
                  <a:srgbClr val="26BED2"/>
                </a:solidFill>
                <a:latin typeface="Aptos"/>
              </a:defRPr>
            </a:pPr>
            <a:r>
              <a:t>IDEAL SAMPLER</a:t>
            </a:r>
          </a:p>
        </p:txBody>
      </p:sp>
      <p:sp>
        <p:nvSpPr>
          <p:cNvPr id="12" name="TextBox 11"/>
          <p:cNvSpPr txBox="1"/>
          <p:nvPr/>
        </p:nvSpPr>
        <p:spPr>
          <a:xfrm>
            <a:off x="7616952" y="2651760"/>
            <a:ext cx="3557016" cy="566928"/>
          </a:xfrm>
          <a:prstGeom prst="rect">
            <a:avLst/>
          </a:prstGeom>
          <a:noFill/>
        </p:spPr>
        <p:txBody>
          <a:bodyPr wrap="square">
            <a:spAutoFit/>
          </a:bodyPr>
          <a:lstStyle/>
          <a:p>
            <a:pPr>
              <a:defRPr sz="1200" b="0">
                <a:solidFill>
                  <a:srgbClr val="F6F9FC"/>
                </a:solidFill>
                <a:latin typeface="Aptos"/>
              </a:defRPr>
            </a:pPr>
            <a:r>
              <a:t>10.11% feasible samples</a:t>
            </a:r>
          </a:p>
        </p:txBody>
      </p:sp>
      <p:sp>
        <p:nvSpPr>
          <p:cNvPr id="13" name="Rounded Rectangle 12"/>
          <p:cNvSpPr/>
          <p:nvPr/>
        </p:nvSpPr>
        <p:spPr>
          <a:xfrm>
            <a:off x="7452360" y="3657600"/>
            <a:ext cx="3886200" cy="1188720"/>
          </a:xfrm>
          <a:prstGeom prst="roundRect">
            <a:avLst/>
          </a:prstGeom>
          <a:solidFill>
            <a:srgbClr val="1A2B48"/>
          </a:solidFill>
          <a:ln>
            <a:solidFill>
              <a:srgbClr val="F7BE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3776472"/>
            <a:ext cx="3557016" cy="320040"/>
          </a:xfrm>
          <a:prstGeom prst="rect">
            <a:avLst/>
          </a:prstGeom>
          <a:noFill/>
        </p:spPr>
        <p:txBody>
          <a:bodyPr wrap="square">
            <a:spAutoFit/>
          </a:bodyPr>
          <a:lstStyle/>
          <a:p>
            <a:pPr>
              <a:defRPr sz="1500" b="1">
                <a:solidFill>
                  <a:srgbClr val="F7BE4D"/>
                </a:solidFill>
                <a:latin typeface="Aptos"/>
              </a:defRPr>
            </a:pPr>
            <a:r>
              <a:t>NOISY AER</a:t>
            </a:r>
          </a:p>
        </p:txBody>
      </p:sp>
      <p:sp>
        <p:nvSpPr>
          <p:cNvPr id="15" name="TextBox 14"/>
          <p:cNvSpPr txBox="1"/>
          <p:nvPr/>
        </p:nvSpPr>
        <p:spPr>
          <a:xfrm>
            <a:off x="7616952" y="4160520"/>
            <a:ext cx="3557016" cy="566928"/>
          </a:xfrm>
          <a:prstGeom prst="rect">
            <a:avLst/>
          </a:prstGeom>
          <a:noFill/>
        </p:spPr>
        <p:txBody>
          <a:bodyPr wrap="square">
            <a:spAutoFit/>
          </a:bodyPr>
          <a:lstStyle/>
          <a:p>
            <a:pPr>
              <a:defRPr sz="1200" b="0">
                <a:solidFill>
                  <a:srgbClr val="F6F9FC"/>
                </a:solidFill>
                <a:latin typeface="Aptos"/>
              </a:defRPr>
            </a:pPr>
            <a:r>
              <a:t>7.47% feasible samples</a:t>
            </a:r>
          </a:p>
        </p:txBody>
      </p:sp>
      <p:sp>
        <p:nvSpPr>
          <p:cNvPr id="16" name="TextBox 15"/>
          <p:cNvSpPr txBox="1"/>
          <p:nvPr/>
        </p:nvSpPr>
        <p:spPr>
          <a:xfrm>
            <a:off x="7498079" y="5166360"/>
            <a:ext cx="3749039" cy="640080"/>
          </a:xfrm>
          <a:prstGeom prst="rect">
            <a:avLst/>
          </a:prstGeom>
          <a:noFill/>
        </p:spPr>
        <p:txBody>
          <a:bodyPr wrap="square">
            <a:spAutoFit/>
          </a:bodyPr>
          <a:lstStyle/>
          <a:p>
            <a:pPr>
              <a:defRPr sz="1200" b="0">
                <a:solidFill>
                  <a:srgbClr val="B7C6DA"/>
                </a:solidFill>
                <a:latin typeface="Aptos"/>
              </a:defRPr>
            </a:pPr>
            <a:r>
              <a:t>This compares two simulations. It is not the same as the real IBM hardware run.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11 / HARDWARE EVIDENCE</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A completed IBM Quantum job returned 1,024 shots</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Recorded run details and saved counts are included with the package.</a:t>
            </a:r>
          </a:p>
        </p:txBody>
      </p:sp>
      <p:sp>
        <p:nvSpPr>
          <p:cNvPr id="7" name="TextBox 6"/>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8" name="TextBox 7"/>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12</a:t>
            </a:r>
          </a:p>
        </p:txBody>
      </p:sp>
      <p:pic>
        <p:nvPicPr>
          <p:cNvPr id="9" name="Picture 8" descr="hardware_top_counts.png"/>
          <p:cNvPicPr>
            <a:picLocks noChangeAspect="1"/>
          </p:cNvPicPr>
          <p:nvPr/>
        </p:nvPicPr>
        <p:blipFill>
          <a:blip r:embed="rId2"/>
          <a:stretch>
            <a:fillRect/>
          </a:stretch>
        </p:blipFill>
        <p:spPr>
          <a:xfrm>
            <a:off x="594360" y="1783080"/>
            <a:ext cx="6629400" cy="4114800"/>
          </a:xfrm>
          <a:prstGeom prst="rect">
            <a:avLst/>
          </a:prstGeom>
        </p:spPr>
      </p:pic>
      <p:sp>
        <p:nvSpPr>
          <p:cNvPr id="10" name="Rounded Rectangle 9"/>
          <p:cNvSpPr/>
          <p:nvPr/>
        </p:nvSpPr>
        <p:spPr>
          <a:xfrm>
            <a:off x="7543800" y="1920240"/>
            <a:ext cx="3749039" cy="1143000"/>
          </a:xfrm>
          <a:prstGeom prst="roundRect">
            <a:avLst/>
          </a:prstGeom>
          <a:solidFill>
            <a:srgbClr val="1A2B48"/>
          </a:solidFill>
          <a:ln>
            <a:solidFill>
              <a:srgbClr val="F7BE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2039112"/>
            <a:ext cx="3419856" cy="320040"/>
          </a:xfrm>
          <a:prstGeom prst="rect">
            <a:avLst/>
          </a:prstGeom>
          <a:noFill/>
        </p:spPr>
        <p:txBody>
          <a:bodyPr wrap="square">
            <a:spAutoFit/>
          </a:bodyPr>
          <a:lstStyle/>
          <a:p>
            <a:pPr>
              <a:defRPr sz="1500" b="1">
                <a:solidFill>
                  <a:srgbClr val="F7BE4D"/>
                </a:solidFill>
                <a:latin typeface="Aptos"/>
              </a:defRPr>
            </a:pPr>
            <a:r>
              <a:t>JOB</a:t>
            </a:r>
          </a:p>
        </p:txBody>
      </p:sp>
      <p:sp>
        <p:nvSpPr>
          <p:cNvPr id="12" name="TextBox 11"/>
          <p:cNvSpPr txBox="1"/>
          <p:nvPr/>
        </p:nvSpPr>
        <p:spPr>
          <a:xfrm>
            <a:off x="7708392" y="2423160"/>
            <a:ext cx="3419856" cy="521207"/>
          </a:xfrm>
          <a:prstGeom prst="rect">
            <a:avLst/>
          </a:prstGeom>
          <a:noFill/>
        </p:spPr>
        <p:txBody>
          <a:bodyPr wrap="square">
            <a:spAutoFit/>
          </a:bodyPr>
          <a:lstStyle/>
          <a:p>
            <a:pPr>
              <a:defRPr sz="1200" b="0">
                <a:solidFill>
                  <a:srgbClr val="F6F9FC"/>
                </a:solidFill>
                <a:latin typeface="Aptos"/>
              </a:defRPr>
            </a:pPr>
            <a:r>
              <a:t>ibm_marrakesh</a:t>
            </a:r>
            <a:br/>
            <a:r>
              <a:t>ID: db83qs0r1c5c738lmabg</a:t>
            </a:r>
          </a:p>
        </p:txBody>
      </p:sp>
      <p:sp>
        <p:nvSpPr>
          <p:cNvPr id="13" name="Rounded Rectangle 12"/>
          <p:cNvSpPr/>
          <p:nvPr/>
        </p:nvSpPr>
        <p:spPr>
          <a:xfrm>
            <a:off x="7543800" y="3383280"/>
            <a:ext cx="3749039" cy="114300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08392" y="3502152"/>
            <a:ext cx="3419856" cy="320040"/>
          </a:xfrm>
          <a:prstGeom prst="rect">
            <a:avLst/>
          </a:prstGeom>
          <a:noFill/>
        </p:spPr>
        <p:txBody>
          <a:bodyPr wrap="square">
            <a:spAutoFit/>
          </a:bodyPr>
          <a:lstStyle/>
          <a:p>
            <a:pPr>
              <a:defRPr sz="1500" b="1">
                <a:solidFill>
                  <a:srgbClr val="26BED2"/>
                </a:solidFill>
                <a:latin typeface="Aptos"/>
              </a:defRPr>
            </a:pPr>
            <a:r>
              <a:t>CIRCUIT</a:t>
            </a:r>
          </a:p>
        </p:txBody>
      </p:sp>
      <p:sp>
        <p:nvSpPr>
          <p:cNvPr id="15" name="TextBox 14"/>
          <p:cNvSpPr txBox="1"/>
          <p:nvPr/>
        </p:nvSpPr>
        <p:spPr>
          <a:xfrm>
            <a:off x="7708392" y="3886200"/>
            <a:ext cx="3419856" cy="521207"/>
          </a:xfrm>
          <a:prstGeom prst="rect">
            <a:avLst/>
          </a:prstGeom>
          <a:noFill/>
        </p:spPr>
        <p:txBody>
          <a:bodyPr wrap="square">
            <a:spAutoFit/>
          </a:bodyPr>
          <a:lstStyle/>
          <a:p>
            <a:pPr>
              <a:defRPr sz="1200" b="0">
                <a:solidFill>
                  <a:srgbClr val="F6F9FC"/>
                </a:solidFill>
                <a:latin typeface="Aptos"/>
              </a:defRPr>
            </a:pPr>
            <a:r>
              <a:t>6 logical qubits</a:t>
            </a:r>
            <a:br/>
            <a:r>
              <a:t>transpiled depth 144</a:t>
            </a:r>
          </a:p>
        </p:txBody>
      </p:sp>
      <p:sp>
        <p:nvSpPr>
          <p:cNvPr id="16" name="Rounded Rectangle 15"/>
          <p:cNvSpPr/>
          <p:nvPr/>
        </p:nvSpPr>
        <p:spPr>
          <a:xfrm>
            <a:off x="7543800" y="4846320"/>
            <a:ext cx="3749039" cy="1051560"/>
          </a:xfrm>
          <a:prstGeom prst="roundRect">
            <a:avLst/>
          </a:prstGeom>
          <a:solidFill>
            <a:srgbClr val="1A2B48"/>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08392" y="4965192"/>
            <a:ext cx="3419856" cy="320040"/>
          </a:xfrm>
          <a:prstGeom prst="rect">
            <a:avLst/>
          </a:prstGeom>
          <a:noFill/>
        </p:spPr>
        <p:txBody>
          <a:bodyPr wrap="square">
            <a:spAutoFit/>
          </a:bodyPr>
          <a:lstStyle/>
          <a:p>
            <a:pPr>
              <a:defRPr sz="1500" b="1">
                <a:solidFill>
                  <a:srgbClr val="64CDA0"/>
                </a:solidFill>
                <a:latin typeface="Aptos"/>
              </a:defRPr>
            </a:pPr>
            <a:r>
              <a:t>OPTIMAL SAMPLE</a:t>
            </a:r>
          </a:p>
        </p:txBody>
      </p:sp>
      <p:sp>
        <p:nvSpPr>
          <p:cNvPr id="18" name="TextBox 17"/>
          <p:cNvSpPr txBox="1"/>
          <p:nvPr/>
        </p:nvSpPr>
        <p:spPr>
          <a:xfrm>
            <a:off x="7708392" y="5349240"/>
            <a:ext cx="3419856" cy="429767"/>
          </a:xfrm>
          <a:prstGeom prst="rect">
            <a:avLst/>
          </a:prstGeom>
          <a:noFill/>
        </p:spPr>
        <p:txBody>
          <a:bodyPr wrap="square">
            <a:spAutoFit/>
          </a:bodyPr>
          <a:lstStyle/>
          <a:p>
            <a:pPr>
              <a:defRPr sz="1200" b="0">
                <a:solidFill>
                  <a:srgbClr val="F6F9FC"/>
                </a:solidFill>
                <a:latin typeface="Aptos"/>
              </a:defRPr>
            </a:pPr>
            <a:r>
              <a:t>100110 appeared 37 times</a:t>
            </a:r>
            <a:br/>
            <a:r>
              <a:t>3.61% of shots</a:t>
            </a:r>
          </a:p>
        </p:txBody>
      </p:sp>
      <p:sp>
        <p:nvSpPr>
          <p:cNvPr id="19" name="TextBox 18"/>
          <p:cNvSpPr txBox="1"/>
          <p:nvPr/>
        </p:nvSpPr>
        <p:spPr>
          <a:xfrm>
            <a:off x="731520" y="6035040"/>
            <a:ext cx="10789920" cy="274320"/>
          </a:xfrm>
          <a:prstGeom prst="rect">
            <a:avLst/>
          </a:prstGeom>
          <a:noFill/>
        </p:spPr>
        <p:txBody>
          <a:bodyPr wrap="square">
            <a:spAutoFit/>
          </a:bodyPr>
          <a:lstStyle/>
          <a:p>
            <a:pPr>
              <a:defRPr sz="1100" b="0">
                <a:solidFill>
                  <a:srgbClr val="B7C6DA"/>
                </a:solidFill>
                <a:latin typeface="Aptos"/>
              </a:defRPr>
            </a:pPr>
            <a:r>
              <a:t>The bitstring matches the recorded exact optimum under the notebook’s bit-order convention; this is not evidence of quantum advantage.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12 / COMPARE EVIDENCE FAIRLY</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What each experiment can tell us</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7" name="TextBox 6"/>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13</a:t>
            </a:r>
          </a:p>
        </p:txBody>
      </p:sp>
      <p:sp>
        <p:nvSpPr>
          <p:cNvPr id="8" name="Rounded Rectangle 7"/>
          <p:cNvSpPr/>
          <p:nvPr/>
        </p:nvSpPr>
        <p:spPr>
          <a:xfrm>
            <a:off x="685800" y="1828800"/>
            <a:ext cx="237744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47672"/>
            <a:ext cx="2048256" cy="320040"/>
          </a:xfrm>
          <a:prstGeom prst="rect">
            <a:avLst/>
          </a:prstGeom>
          <a:noFill/>
        </p:spPr>
        <p:txBody>
          <a:bodyPr wrap="square">
            <a:spAutoFit/>
          </a:bodyPr>
          <a:lstStyle/>
          <a:p>
            <a:pPr>
              <a:defRPr sz="1500" b="1">
                <a:solidFill>
                  <a:srgbClr val="26BED2"/>
                </a:solidFill>
                <a:latin typeface="Aptos"/>
              </a:defRPr>
            </a:pPr>
            <a:r>
              <a:t>6 assets / QAOA</a:t>
            </a:r>
          </a:p>
        </p:txBody>
      </p:sp>
      <p:sp>
        <p:nvSpPr>
          <p:cNvPr id="10" name="TextBox 9"/>
          <p:cNvSpPr txBox="1"/>
          <p:nvPr/>
        </p:nvSpPr>
        <p:spPr>
          <a:xfrm>
            <a:off x="850392" y="2331720"/>
            <a:ext cx="2048256" cy="-27432"/>
          </a:xfrm>
          <a:prstGeom prst="rect">
            <a:avLst/>
          </a:prstGeom>
          <a:noFill/>
        </p:spPr>
        <p:txBody>
          <a:bodyPr wrap="square">
            <a:spAutoFit/>
          </a:bodyPr>
          <a:lstStyle/>
          <a:p>
            <a:pPr>
              <a:defRPr sz="1200" b="0">
                <a:solidFill>
                  <a:srgbClr val="F6F9FC"/>
                </a:solidFill>
                <a:latin typeface="Aptos"/>
              </a:defRPr>
            </a:pPr>
          </a:p>
        </p:txBody>
      </p:sp>
      <p:sp>
        <p:nvSpPr>
          <p:cNvPr id="11" name="Rounded Rectangle 10"/>
          <p:cNvSpPr/>
          <p:nvPr/>
        </p:nvSpPr>
        <p:spPr>
          <a:xfrm>
            <a:off x="3291840" y="1828800"/>
            <a:ext cx="246888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56432" y="1947672"/>
            <a:ext cx="2139696" cy="320040"/>
          </a:xfrm>
          <a:prstGeom prst="rect">
            <a:avLst/>
          </a:prstGeom>
          <a:noFill/>
        </p:spPr>
        <p:txBody>
          <a:bodyPr wrap="square">
            <a:spAutoFit/>
          </a:bodyPr>
          <a:lstStyle/>
          <a:p>
            <a:pPr>
              <a:defRPr sz="1500" b="1">
                <a:solidFill>
                  <a:srgbClr val="26BED2"/>
                </a:solidFill>
                <a:latin typeface="Aptos"/>
              </a:defRPr>
            </a:pPr>
            <a:r>
              <a:t>Simulator</a:t>
            </a:r>
          </a:p>
        </p:txBody>
      </p:sp>
      <p:sp>
        <p:nvSpPr>
          <p:cNvPr id="13" name="TextBox 12"/>
          <p:cNvSpPr txBox="1"/>
          <p:nvPr/>
        </p:nvSpPr>
        <p:spPr>
          <a:xfrm>
            <a:off x="3456432" y="2331720"/>
            <a:ext cx="2139696" cy="-27432"/>
          </a:xfrm>
          <a:prstGeom prst="rect">
            <a:avLst/>
          </a:prstGeom>
          <a:noFill/>
        </p:spPr>
        <p:txBody>
          <a:bodyPr wrap="square">
            <a:spAutoFit/>
          </a:bodyPr>
          <a:lstStyle/>
          <a:p>
            <a:pPr>
              <a:defRPr sz="1200" b="0">
                <a:solidFill>
                  <a:srgbClr val="F6F9FC"/>
                </a:solidFill>
                <a:latin typeface="Aptos"/>
              </a:defRPr>
            </a:pPr>
          </a:p>
        </p:txBody>
      </p:sp>
      <p:sp>
        <p:nvSpPr>
          <p:cNvPr id="14" name="Rounded Rectangle 13"/>
          <p:cNvSpPr/>
          <p:nvPr/>
        </p:nvSpPr>
        <p:spPr>
          <a:xfrm>
            <a:off x="5989320" y="1828800"/>
            <a:ext cx="548640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1947672"/>
            <a:ext cx="5157216" cy="320040"/>
          </a:xfrm>
          <a:prstGeom prst="rect">
            <a:avLst/>
          </a:prstGeom>
          <a:noFill/>
        </p:spPr>
        <p:txBody>
          <a:bodyPr wrap="square">
            <a:spAutoFit/>
          </a:bodyPr>
          <a:lstStyle/>
          <a:p>
            <a:pPr>
              <a:defRPr sz="1500" b="1">
                <a:solidFill>
                  <a:srgbClr val="26BED2"/>
                </a:solidFill>
                <a:latin typeface="Aptos"/>
              </a:defRPr>
            </a:pPr>
            <a:r>
              <a:t>Compare depth and penalty settings against exact optimum.</a:t>
            </a:r>
          </a:p>
        </p:txBody>
      </p:sp>
      <p:sp>
        <p:nvSpPr>
          <p:cNvPr id="16" name="TextBox 15"/>
          <p:cNvSpPr txBox="1"/>
          <p:nvPr/>
        </p:nvSpPr>
        <p:spPr>
          <a:xfrm>
            <a:off x="6153912" y="2331720"/>
            <a:ext cx="5157216" cy="-27432"/>
          </a:xfrm>
          <a:prstGeom prst="rect">
            <a:avLst/>
          </a:prstGeom>
          <a:noFill/>
        </p:spPr>
        <p:txBody>
          <a:bodyPr wrap="square">
            <a:spAutoFit/>
          </a:bodyPr>
          <a:lstStyle/>
          <a:p>
            <a:pPr>
              <a:defRPr sz="1200" b="0">
                <a:solidFill>
                  <a:srgbClr val="F6F9FC"/>
                </a:solidFill>
                <a:latin typeface="Aptos"/>
              </a:defRPr>
            </a:pPr>
          </a:p>
        </p:txBody>
      </p:sp>
      <p:sp>
        <p:nvSpPr>
          <p:cNvPr id="17" name="Rounded Rectangle 16"/>
          <p:cNvSpPr/>
          <p:nvPr/>
        </p:nvSpPr>
        <p:spPr>
          <a:xfrm>
            <a:off x="685800" y="2587752"/>
            <a:ext cx="237744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2706624"/>
            <a:ext cx="2048256" cy="320040"/>
          </a:xfrm>
          <a:prstGeom prst="rect">
            <a:avLst/>
          </a:prstGeom>
          <a:noFill/>
        </p:spPr>
        <p:txBody>
          <a:bodyPr wrap="square">
            <a:spAutoFit/>
          </a:bodyPr>
          <a:lstStyle/>
          <a:p>
            <a:pPr>
              <a:defRPr sz="1500" b="1">
                <a:solidFill>
                  <a:srgbClr val="26BED2"/>
                </a:solidFill>
                <a:latin typeface="Aptos"/>
              </a:defRPr>
            </a:pPr>
            <a:r>
              <a:t>12 assets / QAOA</a:t>
            </a:r>
          </a:p>
        </p:txBody>
      </p:sp>
      <p:sp>
        <p:nvSpPr>
          <p:cNvPr id="19" name="TextBox 18"/>
          <p:cNvSpPr txBox="1"/>
          <p:nvPr/>
        </p:nvSpPr>
        <p:spPr>
          <a:xfrm>
            <a:off x="850392" y="3090672"/>
            <a:ext cx="2048256" cy="-27432"/>
          </a:xfrm>
          <a:prstGeom prst="rect">
            <a:avLst/>
          </a:prstGeom>
          <a:noFill/>
        </p:spPr>
        <p:txBody>
          <a:bodyPr wrap="square">
            <a:spAutoFit/>
          </a:bodyPr>
          <a:lstStyle/>
          <a:p>
            <a:pPr>
              <a:defRPr sz="1200" b="0">
                <a:solidFill>
                  <a:srgbClr val="F6F9FC"/>
                </a:solidFill>
                <a:latin typeface="Aptos"/>
              </a:defRPr>
            </a:pPr>
          </a:p>
        </p:txBody>
      </p:sp>
      <p:sp>
        <p:nvSpPr>
          <p:cNvPr id="20" name="Rounded Rectangle 19"/>
          <p:cNvSpPr/>
          <p:nvPr/>
        </p:nvSpPr>
        <p:spPr>
          <a:xfrm>
            <a:off x="3291840" y="2587752"/>
            <a:ext cx="246888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2706624"/>
            <a:ext cx="2139696" cy="320040"/>
          </a:xfrm>
          <a:prstGeom prst="rect">
            <a:avLst/>
          </a:prstGeom>
          <a:noFill/>
        </p:spPr>
        <p:txBody>
          <a:bodyPr wrap="square">
            <a:spAutoFit/>
          </a:bodyPr>
          <a:lstStyle/>
          <a:p>
            <a:pPr>
              <a:defRPr sz="1500" b="1">
                <a:solidFill>
                  <a:srgbClr val="26BED2"/>
                </a:solidFill>
                <a:latin typeface="Aptos"/>
              </a:defRPr>
            </a:pPr>
            <a:r>
              <a:t>Simulator + exact search</a:t>
            </a:r>
          </a:p>
        </p:txBody>
      </p:sp>
      <p:sp>
        <p:nvSpPr>
          <p:cNvPr id="22" name="TextBox 21"/>
          <p:cNvSpPr txBox="1"/>
          <p:nvPr/>
        </p:nvSpPr>
        <p:spPr>
          <a:xfrm>
            <a:off x="3456432" y="3090672"/>
            <a:ext cx="2139696" cy="-27432"/>
          </a:xfrm>
          <a:prstGeom prst="rect">
            <a:avLst/>
          </a:prstGeom>
          <a:noFill/>
        </p:spPr>
        <p:txBody>
          <a:bodyPr wrap="square">
            <a:spAutoFit/>
          </a:bodyPr>
          <a:lstStyle/>
          <a:p>
            <a:pPr>
              <a:defRPr sz="1200" b="0">
                <a:solidFill>
                  <a:srgbClr val="F6F9FC"/>
                </a:solidFill>
                <a:latin typeface="Aptos"/>
              </a:defRPr>
            </a:pPr>
          </a:p>
        </p:txBody>
      </p:sp>
      <p:sp>
        <p:nvSpPr>
          <p:cNvPr id="23" name="Rounded Rectangle 22"/>
          <p:cNvSpPr/>
          <p:nvPr/>
        </p:nvSpPr>
        <p:spPr>
          <a:xfrm>
            <a:off x="5989320" y="2587752"/>
            <a:ext cx="548640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706624"/>
            <a:ext cx="5157216" cy="320040"/>
          </a:xfrm>
          <a:prstGeom prst="rect">
            <a:avLst/>
          </a:prstGeom>
          <a:noFill/>
        </p:spPr>
        <p:txBody>
          <a:bodyPr wrap="square">
            <a:spAutoFit/>
          </a:bodyPr>
          <a:lstStyle/>
          <a:p>
            <a:pPr>
              <a:defRPr sz="1500" b="1">
                <a:solidFill>
                  <a:srgbClr val="26BED2"/>
                </a:solidFill>
                <a:latin typeface="Aptos"/>
              </a:defRPr>
            </a:pPr>
            <a:r>
              <a:t>Measure sampled quality against 924 feasible portfolios.</a:t>
            </a:r>
          </a:p>
        </p:txBody>
      </p:sp>
      <p:sp>
        <p:nvSpPr>
          <p:cNvPr id="25" name="TextBox 24"/>
          <p:cNvSpPr txBox="1"/>
          <p:nvPr/>
        </p:nvSpPr>
        <p:spPr>
          <a:xfrm>
            <a:off x="6153912" y="3090672"/>
            <a:ext cx="5157216" cy="-27432"/>
          </a:xfrm>
          <a:prstGeom prst="rect">
            <a:avLst/>
          </a:prstGeom>
          <a:noFill/>
        </p:spPr>
        <p:txBody>
          <a:bodyPr wrap="square">
            <a:spAutoFit/>
          </a:bodyPr>
          <a:lstStyle/>
          <a:p>
            <a:pPr>
              <a:defRPr sz="1200" b="0">
                <a:solidFill>
                  <a:srgbClr val="F6F9FC"/>
                </a:solidFill>
                <a:latin typeface="Aptos"/>
              </a:defRPr>
            </a:pPr>
          </a:p>
        </p:txBody>
      </p:sp>
      <p:sp>
        <p:nvSpPr>
          <p:cNvPr id="26" name="Rounded Rectangle 25"/>
          <p:cNvSpPr/>
          <p:nvPr/>
        </p:nvSpPr>
        <p:spPr>
          <a:xfrm>
            <a:off x="685800" y="3346704"/>
            <a:ext cx="237744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 y="3465576"/>
            <a:ext cx="2048256" cy="320040"/>
          </a:xfrm>
          <a:prstGeom prst="rect">
            <a:avLst/>
          </a:prstGeom>
          <a:noFill/>
        </p:spPr>
        <p:txBody>
          <a:bodyPr wrap="square">
            <a:spAutoFit/>
          </a:bodyPr>
          <a:lstStyle/>
          <a:p>
            <a:pPr>
              <a:defRPr sz="1500" b="1">
                <a:solidFill>
                  <a:srgbClr val="26BED2"/>
                </a:solidFill>
                <a:latin typeface="Aptos"/>
              </a:defRPr>
            </a:pPr>
            <a:r>
              <a:t>20 assets / 10 selected</a:t>
            </a:r>
          </a:p>
        </p:txBody>
      </p:sp>
      <p:sp>
        <p:nvSpPr>
          <p:cNvPr id="28" name="TextBox 27"/>
          <p:cNvSpPr txBox="1"/>
          <p:nvPr/>
        </p:nvSpPr>
        <p:spPr>
          <a:xfrm>
            <a:off x="850392" y="3849624"/>
            <a:ext cx="2048256" cy="-27432"/>
          </a:xfrm>
          <a:prstGeom prst="rect">
            <a:avLst/>
          </a:prstGeom>
          <a:noFill/>
        </p:spPr>
        <p:txBody>
          <a:bodyPr wrap="square">
            <a:spAutoFit/>
          </a:bodyPr>
          <a:lstStyle/>
          <a:p>
            <a:pPr>
              <a:defRPr sz="1200" b="0">
                <a:solidFill>
                  <a:srgbClr val="F6F9FC"/>
                </a:solidFill>
                <a:latin typeface="Aptos"/>
              </a:defRPr>
            </a:pPr>
          </a:p>
        </p:txBody>
      </p:sp>
      <p:sp>
        <p:nvSpPr>
          <p:cNvPr id="29" name="Rounded Rectangle 28"/>
          <p:cNvSpPr/>
          <p:nvPr/>
        </p:nvSpPr>
        <p:spPr>
          <a:xfrm>
            <a:off x="3291840" y="3346704"/>
            <a:ext cx="2468880" cy="594360"/>
          </a:xfrm>
          <a:prstGeom prst="roundRect">
            <a:avLst/>
          </a:prstGeom>
          <a:solidFill>
            <a:srgbClr val="1A2B48"/>
          </a:solidFill>
          <a:ln>
            <a:solidFill>
              <a:srgbClr val="F7BE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56432" y="3465576"/>
            <a:ext cx="2139696" cy="320040"/>
          </a:xfrm>
          <a:prstGeom prst="rect">
            <a:avLst/>
          </a:prstGeom>
          <a:noFill/>
        </p:spPr>
        <p:txBody>
          <a:bodyPr wrap="square">
            <a:spAutoFit/>
          </a:bodyPr>
          <a:lstStyle/>
          <a:p>
            <a:pPr>
              <a:defRPr sz="1500" b="1">
                <a:solidFill>
                  <a:srgbClr val="F7BE4D"/>
                </a:solidFill>
                <a:latin typeface="Aptos"/>
              </a:defRPr>
            </a:pPr>
            <a:r>
              <a:t>Classical exhaustive search</a:t>
            </a:r>
          </a:p>
        </p:txBody>
      </p:sp>
      <p:sp>
        <p:nvSpPr>
          <p:cNvPr id="31" name="TextBox 30"/>
          <p:cNvSpPr txBox="1"/>
          <p:nvPr/>
        </p:nvSpPr>
        <p:spPr>
          <a:xfrm>
            <a:off x="3456432" y="3849624"/>
            <a:ext cx="2139696" cy="-27432"/>
          </a:xfrm>
          <a:prstGeom prst="rect">
            <a:avLst/>
          </a:prstGeom>
          <a:noFill/>
        </p:spPr>
        <p:txBody>
          <a:bodyPr wrap="square">
            <a:spAutoFit/>
          </a:bodyPr>
          <a:lstStyle/>
          <a:p>
            <a:pPr>
              <a:defRPr sz="1200" b="0">
                <a:solidFill>
                  <a:srgbClr val="F6F9FC"/>
                </a:solidFill>
                <a:latin typeface="Aptos"/>
              </a:defRPr>
            </a:pPr>
          </a:p>
        </p:txBody>
      </p:sp>
      <p:sp>
        <p:nvSpPr>
          <p:cNvPr id="32" name="Rounded Rectangle 31"/>
          <p:cNvSpPr/>
          <p:nvPr/>
        </p:nvSpPr>
        <p:spPr>
          <a:xfrm>
            <a:off x="5989320" y="3346704"/>
            <a:ext cx="548640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53912" y="3465576"/>
            <a:ext cx="5157216" cy="320040"/>
          </a:xfrm>
          <a:prstGeom prst="rect">
            <a:avLst/>
          </a:prstGeom>
          <a:noFill/>
        </p:spPr>
        <p:txBody>
          <a:bodyPr wrap="square">
            <a:spAutoFit/>
          </a:bodyPr>
          <a:lstStyle/>
          <a:p>
            <a:pPr>
              <a:defRPr sz="1500" b="1">
                <a:solidFill>
                  <a:srgbClr val="26BED2"/>
                </a:solidFill>
                <a:latin typeface="Aptos"/>
              </a:defRPr>
            </a:pPr>
            <a:r>
              <a:t>Scale the classical constrained benchmark; not a QAOA result.</a:t>
            </a:r>
          </a:p>
        </p:txBody>
      </p:sp>
      <p:sp>
        <p:nvSpPr>
          <p:cNvPr id="34" name="TextBox 33"/>
          <p:cNvSpPr txBox="1"/>
          <p:nvPr/>
        </p:nvSpPr>
        <p:spPr>
          <a:xfrm>
            <a:off x="6153912" y="3849624"/>
            <a:ext cx="5157216" cy="-27432"/>
          </a:xfrm>
          <a:prstGeom prst="rect">
            <a:avLst/>
          </a:prstGeom>
          <a:noFill/>
        </p:spPr>
        <p:txBody>
          <a:bodyPr wrap="square">
            <a:spAutoFit/>
          </a:bodyPr>
          <a:lstStyle/>
          <a:p>
            <a:pPr>
              <a:defRPr sz="1200" b="0">
                <a:solidFill>
                  <a:srgbClr val="F6F9FC"/>
                </a:solidFill>
                <a:latin typeface="Aptos"/>
              </a:defRPr>
            </a:pPr>
          </a:p>
        </p:txBody>
      </p:sp>
      <p:sp>
        <p:nvSpPr>
          <p:cNvPr id="35" name="Rounded Rectangle 34"/>
          <p:cNvSpPr/>
          <p:nvPr/>
        </p:nvSpPr>
        <p:spPr>
          <a:xfrm>
            <a:off x="685800" y="4105656"/>
            <a:ext cx="237744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 y="4224528"/>
            <a:ext cx="2048256" cy="320040"/>
          </a:xfrm>
          <a:prstGeom prst="rect">
            <a:avLst/>
          </a:prstGeom>
          <a:noFill/>
        </p:spPr>
        <p:txBody>
          <a:bodyPr wrap="square">
            <a:spAutoFit/>
          </a:bodyPr>
          <a:lstStyle/>
          <a:p>
            <a:pPr>
              <a:defRPr sz="1500" b="1">
                <a:solidFill>
                  <a:srgbClr val="26BED2"/>
                </a:solidFill>
                <a:latin typeface="Aptos"/>
              </a:defRPr>
            </a:pPr>
            <a:r>
              <a:t>8-qubit pilot</a:t>
            </a:r>
          </a:p>
        </p:txBody>
      </p:sp>
      <p:sp>
        <p:nvSpPr>
          <p:cNvPr id="37" name="TextBox 36"/>
          <p:cNvSpPr txBox="1"/>
          <p:nvPr/>
        </p:nvSpPr>
        <p:spPr>
          <a:xfrm>
            <a:off x="850392" y="4608576"/>
            <a:ext cx="2048256" cy="-27432"/>
          </a:xfrm>
          <a:prstGeom prst="rect">
            <a:avLst/>
          </a:prstGeom>
          <a:noFill/>
        </p:spPr>
        <p:txBody>
          <a:bodyPr wrap="square">
            <a:spAutoFit/>
          </a:bodyPr>
          <a:lstStyle/>
          <a:p>
            <a:pPr>
              <a:defRPr sz="1200" b="0">
                <a:solidFill>
                  <a:srgbClr val="F6F9FC"/>
                </a:solidFill>
                <a:latin typeface="Aptos"/>
              </a:defRPr>
            </a:pPr>
          </a:p>
        </p:txBody>
      </p:sp>
      <p:sp>
        <p:nvSpPr>
          <p:cNvPr id="38" name="Rounded Rectangle 37"/>
          <p:cNvSpPr/>
          <p:nvPr/>
        </p:nvSpPr>
        <p:spPr>
          <a:xfrm>
            <a:off x="3291840" y="4105656"/>
            <a:ext cx="246888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56432" y="4224528"/>
            <a:ext cx="2139696" cy="320040"/>
          </a:xfrm>
          <a:prstGeom prst="rect">
            <a:avLst/>
          </a:prstGeom>
          <a:noFill/>
        </p:spPr>
        <p:txBody>
          <a:bodyPr wrap="square">
            <a:spAutoFit/>
          </a:bodyPr>
          <a:lstStyle/>
          <a:p>
            <a:pPr>
              <a:defRPr sz="1500" b="1">
                <a:solidFill>
                  <a:srgbClr val="26BED2"/>
                </a:solidFill>
                <a:latin typeface="Aptos"/>
              </a:defRPr>
            </a:pPr>
            <a:r>
              <a:t>Ideal + synthetic noisy Aer</a:t>
            </a:r>
          </a:p>
        </p:txBody>
      </p:sp>
      <p:sp>
        <p:nvSpPr>
          <p:cNvPr id="40" name="TextBox 39"/>
          <p:cNvSpPr txBox="1"/>
          <p:nvPr/>
        </p:nvSpPr>
        <p:spPr>
          <a:xfrm>
            <a:off x="3456432" y="4608576"/>
            <a:ext cx="2139696" cy="-27432"/>
          </a:xfrm>
          <a:prstGeom prst="rect">
            <a:avLst/>
          </a:prstGeom>
          <a:noFill/>
        </p:spPr>
        <p:txBody>
          <a:bodyPr wrap="square">
            <a:spAutoFit/>
          </a:bodyPr>
          <a:lstStyle/>
          <a:p>
            <a:pPr>
              <a:defRPr sz="1200" b="0">
                <a:solidFill>
                  <a:srgbClr val="F6F9FC"/>
                </a:solidFill>
                <a:latin typeface="Aptos"/>
              </a:defRPr>
            </a:pPr>
          </a:p>
        </p:txBody>
      </p:sp>
      <p:sp>
        <p:nvSpPr>
          <p:cNvPr id="41" name="Rounded Rectangle 40"/>
          <p:cNvSpPr/>
          <p:nvPr/>
        </p:nvSpPr>
        <p:spPr>
          <a:xfrm>
            <a:off x="5989320" y="4105656"/>
            <a:ext cx="548640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53912" y="4224528"/>
            <a:ext cx="5157216" cy="320040"/>
          </a:xfrm>
          <a:prstGeom prst="rect">
            <a:avLst/>
          </a:prstGeom>
          <a:noFill/>
        </p:spPr>
        <p:txBody>
          <a:bodyPr wrap="square">
            <a:spAutoFit/>
          </a:bodyPr>
          <a:lstStyle/>
          <a:p>
            <a:pPr>
              <a:defRPr sz="1500" b="1">
                <a:solidFill>
                  <a:srgbClr val="26BED2"/>
                </a:solidFill>
                <a:latin typeface="Aptos"/>
              </a:defRPr>
            </a:pPr>
            <a:r>
              <a:t>Illustrate sensitivity to a noise model; not device-calibrated.</a:t>
            </a:r>
          </a:p>
        </p:txBody>
      </p:sp>
      <p:sp>
        <p:nvSpPr>
          <p:cNvPr id="43" name="TextBox 42"/>
          <p:cNvSpPr txBox="1"/>
          <p:nvPr/>
        </p:nvSpPr>
        <p:spPr>
          <a:xfrm>
            <a:off x="6153912" y="4608576"/>
            <a:ext cx="5157216" cy="-27432"/>
          </a:xfrm>
          <a:prstGeom prst="rect">
            <a:avLst/>
          </a:prstGeom>
          <a:noFill/>
        </p:spPr>
        <p:txBody>
          <a:bodyPr wrap="square">
            <a:spAutoFit/>
          </a:bodyPr>
          <a:lstStyle/>
          <a:p>
            <a:pPr>
              <a:defRPr sz="1200" b="0">
                <a:solidFill>
                  <a:srgbClr val="F6F9FC"/>
                </a:solidFill>
                <a:latin typeface="Aptos"/>
              </a:defRPr>
            </a:pPr>
          </a:p>
        </p:txBody>
      </p:sp>
      <p:sp>
        <p:nvSpPr>
          <p:cNvPr id="44" name="Rounded Rectangle 43"/>
          <p:cNvSpPr/>
          <p:nvPr/>
        </p:nvSpPr>
        <p:spPr>
          <a:xfrm>
            <a:off x="685800" y="4864608"/>
            <a:ext cx="2377440" cy="59436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0392" y="4983480"/>
            <a:ext cx="2048256" cy="320040"/>
          </a:xfrm>
          <a:prstGeom prst="rect">
            <a:avLst/>
          </a:prstGeom>
          <a:noFill/>
        </p:spPr>
        <p:txBody>
          <a:bodyPr wrap="square">
            <a:spAutoFit/>
          </a:bodyPr>
          <a:lstStyle/>
          <a:p>
            <a:pPr>
              <a:defRPr sz="1500" b="1">
                <a:solidFill>
                  <a:srgbClr val="26BED2"/>
                </a:solidFill>
                <a:latin typeface="Aptos"/>
              </a:defRPr>
            </a:pPr>
            <a:r>
              <a:t>6-qubit IBM job</a:t>
            </a:r>
          </a:p>
        </p:txBody>
      </p:sp>
      <p:sp>
        <p:nvSpPr>
          <p:cNvPr id="46" name="TextBox 45"/>
          <p:cNvSpPr txBox="1"/>
          <p:nvPr/>
        </p:nvSpPr>
        <p:spPr>
          <a:xfrm>
            <a:off x="850392" y="5367528"/>
            <a:ext cx="2048256" cy="-27432"/>
          </a:xfrm>
          <a:prstGeom prst="rect">
            <a:avLst/>
          </a:prstGeom>
          <a:noFill/>
        </p:spPr>
        <p:txBody>
          <a:bodyPr wrap="square">
            <a:spAutoFit/>
          </a:bodyPr>
          <a:lstStyle/>
          <a:p>
            <a:pPr>
              <a:defRPr sz="1200" b="0">
                <a:solidFill>
                  <a:srgbClr val="F6F9FC"/>
                </a:solidFill>
                <a:latin typeface="Aptos"/>
              </a:defRPr>
            </a:pPr>
          </a:p>
        </p:txBody>
      </p:sp>
      <p:sp>
        <p:nvSpPr>
          <p:cNvPr id="47" name="Rounded Rectangle 46"/>
          <p:cNvSpPr/>
          <p:nvPr/>
        </p:nvSpPr>
        <p:spPr>
          <a:xfrm>
            <a:off x="3291840" y="4864608"/>
            <a:ext cx="2468880" cy="594360"/>
          </a:xfrm>
          <a:prstGeom prst="roundRect">
            <a:avLst/>
          </a:prstGeom>
          <a:solidFill>
            <a:srgbClr val="1A2B48"/>
          </a:solidFill>
          <a:ln>
            <a:solidFill>
              <a:srgbClr val="F7BE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56432" y="4983480"/>
            <a:ext cx="2139696" cy="320040"/>
          </a:xfrm>
          <a:prstGeom prst="rect">
            <a:avLst/>
          </a:prstGeom>
          <a:noFill/>
        </p:spPr>
        <p:txBody>
          <a:bodyPr wrap="square">
            <a:spAutoFit/>
          </a:bodyPr>
          <a:lstStyle/>
          <a:p>
            <a:pPr>
              <a:defRPr sz="1500" b="1">
                <a:solidFill>
                  <a:srgbClr val="F7BE4D"/>
                </a:solidFill>
                <a:latin typeface="Aptos"/>
              </a:defRPr>
            </a:pPr>
            <a:r>
              <a:t>Real IBM Quantum Runtime run</a:t>
            </a:r>
          </a:p>
        </p:txBody>
      </p:sp>
      <p:sp>
        <p:nvSpPr>
          <p:cNvPr id="49" name="TextBox 48"/>
          <p:cNvSpPr txBox="1"/>
          <p:nvPr/>
        </p:nvSpPr>
        <p:spPr>
          <a:xfrm>
            <a:off x="3456432" y="5367528"/>
            <a:ext cx="2139696" cy="-27432"/>
          </a:xfrm>
          <a:prstGeom prst="rect">
            <a:avLst/>
          </a:prstGeom>
          <a:noFill/>
        </p:spPr>
        <p:txBody>
          <a:bodyPr wrap="square">
            <a:spAutoFit/>
          </a:bodyPr>
          <a:lstStyle/>
          <a:p>
            <a:pPr>
              <a:defRPr sz="1200" b="0">
                <a:solidFill>
                  <a:srgbClr val="F6F9FC"/>
                </a:solidFill>
                <a:latin typeface="Aptos"/>
              </a:defRPr>
            </a:pPr>
          </a:p>
        </p:txBody>
      </p:sp>
      <p:sp>
        <p:nvSpPr>
          <p:cNvPr id="50" name="Rounded Rectangle 49"/>
          <p:cNvSpPr/>
          <p:nvPr/>
        </p:nvSpPr>
        <p:spPr>
          <a:xfrm>
            <a:off x="5989320" y="4864608"/>
            <a:ext cx="5486400" cy="594360"/>
          </a:xfrm>
          <a:prstGeom prst="roundRect">
            <a:avLst/>
          </a:prstGeom>
          <a:solidFill>
            <a:srgbClr val="1A2B48"/>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53912" y="4983480"/>
            <a:ext cx="5157216" cy="320040"/>
          </a:xfrm>
          <a:prstGeom prst="rect">
            <a:avLst/>
          </a:prstGeom>
          <a:noFill/>
        </p:spPr>
        <p:txBody>
          <a:bodyPr wrap="square">
            <a:spAutoFit/>
          </a:bodyPr>
          <a:lstStyle/>
          <a:p>
            <a:pPr>
              <a:defRPr sz="1500" b="1">
                <a:solidFill>
                  <a:srgbClr val="64CDA0"/>
                </a:solidFill>
                <a:latin typeface="Aptos"/>
              </a:defRPr>
            </a:pPr>
            <a:r>
              <a:t>Confirm completed execution and observed optimum sample; no advantage claim.</a:t>
            </a:r>
          </a:p>
        </p:txBody>
      </p:sp>
      <p:sp>
        <p:nvSpPr>
          <p:cNvPr id="52" name="TextBox 51"/>
          <p:cNvSpPr txBox="1"/>
          <p:nvPr/>
        </p:nvSpPr>
        <p:spPr>
          <a:xfrm>
            <a:off x="6153912" y="5367528"/>
            <a:ext cx="5157216" cy="-27432"/>
          </a:xfrm>
          <a:prstGeom prst="rect">
            <a:avLst/>
          </a:prstGeom>
          <a:noFill/>
        </p:spPr>
        <p:txBody>
          <a:bodyPr wrap="square">
            <a:spAutoFit/>
          </a:bodyPr>
          <a:lstStyle/>
          <a:p>
            <a:pPr>
              <a:defRPr sz="1200" b="0">
                <a:solidFill>
                  <a:srgbClr val="F6F9FC"/>
                </a:solidFill>
                <a:latin typeface="Aptos"/>
              </a:defRPr>
            </a:pPr>
          </a:p>
        </p:txBody>
      </p:sp>
      <p:sp>
        <p:nvSpPr>
          <p:cNvPr id="53" name="TextBox 52"/>
          <p:cNvSpPr txBox="1"/>
          <p:nvPr/>
        </p:nvSpPr>
        <p:spPr>
          <a:xfrm>
            <a:off x="822960" y="5897880"/>
            <a:ext cx="10332720" cy="320040"/>
          </a:xfrm>
          <a:prstGeom prst="rect">
            <a:avLst/>
          </a:prstGeom>
          <a:noFill/>
        </p:spPr>
        <p:txBody>
          <a:bodyPr wrap="square">
            <a:spAutoFit/>
          </a:bodyPr>
          <a:lstStyle/>
          <a:p>
            <a:pPr>
              <a:defRPr sz="1200" b="0">
                <a:solidFill>
                  <a:srgbClr val="B7C6DA"/>
                </a:solidFill>
                <a:latin typeface="Aptos"/>
              </a:defRPr>
            </a:pPr>
            <a:r>
              <a:t>Separate labels matter: they distinguish measured device data from simulation and exact classical ground truth.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13 / LIMITATIONS</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What the results do—and do not—show</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7" name="TextBox 6"/>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14</a:t>
            </a:r>
          </a:p>
        </p:txBody>
      </p:sp>
      <p:sp>
        <p:nvSpPr>
          <p:cNvPr id="8" name="Rounded Rectangle 7"/>
          <p:cNvSpPr/>
          <p:nvPr/>
        </p:nvSpPr>
        <p:spPr>
          <a:xfrm>
            <a:off x="731520" y="1828800"/>
            <a:ext cx="5120640" cy="1234440"/>
          </a:xfrm>
          <a:prstGeom prst="roundRect">
            <a:avLst/>
          </a:prstGeom>
          <a:solidFill>
            <a:srgbClr val="1A2B48"/>
          </a:solidFill>
          <a:ln>
            <a:solidFill>
              <a:srgbClr val="64CD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47672"/>
            <a:ext cx="4791455" cy="320040"/>
          </a:xfrm>
          <a:prstGeom prst="rect">
            <a:avLst/>
          </a:prstGeom>
          <a:noFill/>
        </p:spPr>
        <p:txBody>
          <a:bodyPr wrap="square">
            <a:spAutoFit/>
          </a:bodyPr>
          <a:lstStyle/>
          <a:p>
            <a:pPr>
              <a:defRPr sz="1500" b="1">
                <a:solidFill>
                  <a:srgbClr val="64CDA0"/>
                </a:solidFill>
                <a:latin typeface="Aptos"/>
              </a:defRPr>
            </a:pPr>
            <a:r>
              <a:t>SUPPORTED BY THE RECORD</a:t>
            </a:r>
          </a:p>
        </p:txBody>
      </p:sp>
      <p:sp>
        <p:nvSpPr>
          <p:cNvPr id="10" name="TextBox 9"/>
          <p:cNvSpPr txBox="1"/>
          <p:nvPr/>
        </p:nvSpPr>
        <p:spPr>
          <a:xfrm>
            <a:off x="896112" y="2331720"/>
            <a:ext cx="4791455" cy="612648"/>
          </a:xfrm>
          <a:prstGeom prst="rect">
            <a:avLst/>
          </a:prstGeom>
          <a:noFill/>
        </p:spPr>
        <p:txBody>
          <a:bodyPr wrap="square">
            <a:spAutoFit/>
          </a:bodyPr>
          <a:lstStyle/>
          <a:p>
            <a:pPr>
              <a:defRPr sz="1200" b="0">
                <a:solidFill>
                  <a:srgbClr val="F6F9FC"/>
                </a:solidFill>
                <a:latin typeface="Aptos"/>
              </a:defRPr>
            </a:pPr>
            <a:r>
              <a:t>Reproducible seeded instances, exact small-case references, saved simulator tables, and a completed IBM job with measurement counts.</a:t>
            </a:r>
          </a:p>
        </p:txBody>
      </p:sp>
      <p:sp>
        <p:nvSpPr>
          <p:cNvPr id="11" name="Rounded Rectangle 10"/>
          <p:cNvSpPr/>
          <p:nvPr/>
        </p:nvSpPr>
        <p:spPr>
          <a:xfrm>
            <a:off x="6309360" y="1828800"/>
            <a:ext cx="5120640" cy="1234440"/>
          </a:xfrm>
          <a:prstGeom prst="roundRect">
            <a:avLst/>
          </a:prstGeom>
          <a:solidFill>
            <a:srgbClr val="1A2B48"/>
          </a:solidFill>
          <a:ln>
            <a:solidFill>
              <a:srgbClr val="F7BE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1947672"/>
            <a:ext cx="4791455" cy="320040"/>
          </a:xfrm>
          <a:prstGeom prst="rect">
            <a:avLst/>
          </a:prstGeom>
          <a:noFill/>
        </p:spPr>
        <p:txBody>
          <a:bodyPr wrap="square">
            <a:spAutoFit/>
          </a:bodyPr>
          <a:lstStyle/>
          <a:p>
            <a:pPr>
              <a:defRPr sz="1500" b="1">
                <a:solidFill>
                  <a:srgbClr val="F7BE4D"/>
                </a:solidFill>
                <a:latin typeface="Aptos"/>
              </a:defRPr>
            </a:pPr>
            <a:r>
              <a:t>NOT ESTABLISHED</a:t>
            </a:r>
          </a:p>
        </p:txBody>
      </p:sp>
      <p:sp>
        <p:nvSpPr>
          <p:cNvPr id="13" name="TextBox 12"/>
          <p:cNvSpPr txBox="1"/>
          <p:nvPr/>
        </p:nvSpPr>
        <p:spPr>
          <a:xfrm>
            <a:off x="6473952" y="2331720"/>
            <a:ext cx="4791455" cy="612648"/>
          </a:xfrm>
          <a:prstGeom prst="rect">
            <a:avLst/>
          </a:prstGeom>
          <a:noFill/>
        </p:spPr>
        <p:txBody>
          <a:bodyPr wrap="square">
            <a:spAutoFit/>
          </a:bodyPr>
          <a:lstStyle/>
          <a:p>
            <a:pPr>
              <a:defRPr sz="1200" b="0">
                <a:solidFill>
                  <a:srgbClr val="F6F9FC"/>
                </a:solidFill>
                <a:latin typeface="Aptos"/>
              </a:defRPr>
            </a:pPr>
            <a:r>
              <a:t>Quantum advantage, a speedup over classical methods, device-calibrated noise conclusions, or generalization to real market portfolios.</a:t>
            </a:r>
          </a:p>
        </p:txBody>
      </p:sp>
      <p:sp>
        <p:nvSpPr>
          <p:cNvPr id="14" name="TextBox 13"/>
          <p:cNvSpPr txBox="1"/>
          <p:nvPr/>
        </p:nvSpPr>
        <p:spPr>
          <a:xfrm>
            <a:off x="914400" y="3657600"/>
            <a:ext cx="10332720" cy="502920"/>
          </a:xfrm>
          <a:prstGeom prst="rect">
            <a:avLst/>
          </a:prstGeom>
          <a:noFill/>
        </p:spPr>
        <p:txBody>
          <a:bodyPr wrap="square">
            <a:spAutoFit/>
          </a:bodyPr>
          <a:lstStyle/>
          <a:p>
            <a:pPr>
              <a:defRPr sz="1900" b="1">
                <a:solidFill>
                  <a:srgbClr val="F6F9FC"/>
                </a:solidFill>
                <a:latin typeface="Aptos"/>
              </a:defRPr>
            </a:pPr>
            <a:r>
              <a:t>Why this is useful: it is an end-to-end testbed for modeling, constraint handling, QAOA tuning, and evidence-based evaluation.</a:t>
            </a:r>
          </a:p>
        </p:txBody>
      </p:sp>
      <p:sp>
        <p:nvSpPr>
          <p:cNvPr id="15" name="TextBox 14"/>
          <p:cNvSpPr txBox="1"/>
          <p:nvPr/>
        </p:nvSpPr>
        <p:spPr>
          <a:xfrm>
            <a:off x="914400" y="4572000"/>
            <a:ext cx="10241280" cy="777240"/>
          </a:xfrm>
          <a:prstGeom prst="rect">
            <a:avLst/>
          </a:prstGeom>
          <a:noFill/>
        </p:spPr>
        <p:txBody>
          <a:bodyPr wrap="square">
            <a:spAutoFit/>
          </a:bodyPr>
          <a:lstStyle/>
          <a:p>
            <a:pPr>
              <a:defRPr sz="1500" b="0">
                <a:solidFill>
                  <a:srgbClr val="B7C6DA"/>
                </a:solidFill>
                <a:latin typeface="Aptos"/>
              </a:defRPr>
            </a:pPr>
            <a:r>
              <a:t>Next steps: repeat across seeds, compare more classical heuristics, calibrate noise assumptions, measure circuit/runtime costs, and document deployment behavior separately from algorithm results.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14 / LIVE DEMO</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Open the Portfolio Optimizer</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457200"/>
          </a:xfrm>
          <a:prstGeom prst="rect">
            <a:avLst/>
          </a:prstGeom>
          <a:noFill/>
        </p:spPr>
        <p:txBody>
          <a:bodyPr wrap="square">
            <a:spAutoFit/>
          </a:bodyPr>
          <a:lstStyle/>
          <a:p>
            <a:pPr>
              <a:defRPr sz="1200" b="0">
                <a:solidFill>
                  <a:srgbClr val="B7C6DA"/>
                </a:solidFill>
                <a:latin typeface="Aptos"/>
              </a:defRPr>
            </a:pPr>
            <a:r>
              <a:t>The deployed app is the interactive interface; the notebook and CSVs are the experiment record.</a:t>
            </a:r>
          </a:p>
        </p:txBody>
      </p:sp>
      <p:sp>
        <p:nvSpPr>
          <p:cNvPr id="7" name="Rounded Rectangle 6"/>
          <p:cNvSpPr/>
          <p:nvPr/>
        </p:nvSpPr>
        <p:spPr>
          <a:xfrm>
            <a:off x="731520" y="1965960"/>
            <a:ext cx="10698480" cy="100584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084831"/>
            <a:ext cx="10369296" cy="320040"/>
          </a:xfrm>
          <a:prstGeom prst="rect">
            <a:avLst/>
          </a:prstGeom>
          <a:noFill/>
        </p:spPr>
        <p:txBody>
          <a:bodyPr wrap="square">
            <a:spAutoFit/>
          </a:bodyPr>
          <a:lstStyle/>
          <a:p>
            <a:pPr>
              <a:defRPr sz="1500" b="1">
                <a:solidFill>
                  <a:srgbClr val="26BED2"/>
                </a:solidFill>
                <a:latin typeface="Aptos"/>
              </a:defRPr>
            </a:pPr>
            <a:r>
              <a:t>LIVE APP URL</a:t>
            </a:r>
          </a:p>
        </p:txBody>
      </p:sp>
      <p:sp>
        <p:nvSpPr>
          <p:cNvPr id="9" name="TextBox 8"/>
          <p:cNvSpPr txBox="1"/>
          <p:nvPr/>
        </p:nvSpPr>
        <p:spPr>
          <a:xfrm>
            <a:off x="896112" y="2468880"/>
            <a:ext cx="10369296" cy="384048"/>
          </a:xfrm>
          <a:prstGeom prst="rect">
            <a:avLst/>
          </a:prstGeom>
          <a:noFill/>
        </p:spPr>
        <p:txBody>
          <a:bodyPr wrap="square">
            <a:spAutoFit/>
          </a:bodyPr>
          <a:lstStyle/>
          <a:p>
            <a:pPr>
              <a:defRPr sz="1200" b="0">
                <a:solidFill>
                  <a:srgbClr val="F6F9FC"/>
                </a:solidFill>
                <a:latin typeface="Aptos"/>
              </a:defRPr>
            </a:pPr>
            <a:r>
              <a:t>https://qiskit-fall-fest-2026-iiitd-ajiq5qdibj2ujasptcycxm.streamlit.app/</a:t>
            </a:r>
          </a:p>
        </p:txBody>
      </p:sp>
      <p:sp>
        <p:nvSpPr>
          <p:cNvPr id="10" name="TextBox 9"/>
          <p:cNvSpPr txBox="1"/>
          <p:nvPr/>
        </p:nvSpPr>
        <p:spPr>
          <a:xfrm>
            <a:off x="914400" y="3429000"/>
            <a:ext cx="10241280" cy="594360"/>
          </a:xfrm>
          <a:prstGeom prst="rect">
            <a:avLst/>
          </a:prstGeom>
          <a:noFill/>
        </p:spPr>
        <p:txBody>
          <a:bodyPr wrap="square">
            <a:spAutoFit/>
          </a:bodyPr>
          <a:lstStyle/>
          <a:p>
            <a:pPr>
              <a:defRPr sz="2000" b="1">
                <a:solidFill>
                  <a:srgbClr val="26BED2"/>
                </a:solidFill>
                <a:latin typeface="Aptos"/>
              </a:defRPr>
            </a:pPr>
            <a:r>
              <a:t>Demo walkthrough</a:t>
            </a:r>
          </a:p>
        </p:txBody>
      </p:sp>
      <p:sp>
        <p:nvSpPr>
          <p:cNvPr id="11" name="TextBox 10"/>
          <p:cNvSpPr txBox="1"/>
          <p:nvPr/>
        </p:nvSpPr>
        <p:spPr>
          <a:xfrm>
            <a:off x="914400" y="3977639"/>
            <a:ext cx="10058400" cy="1188720"/>
          </a:xfrm>
          <a:prstGeom prst="rect">
            <a:avLst/>
          </a:prstGeom>
          <a:noFill/>
        </p:spPr>
        <p:txBody>
          <a:bodyPr wrap="square">
            <a:spAutoFit/>
          </a:bodyPr>
          <a:lstStyle/>
          <a:p>
            <a:pPr>
              <a:defRPr sz="1600" b="0">
                <a:solidFill>
                  <a:srgbClr val="F6F9FC"/>
                </a:solidFill>
                <a:latin typeface="Aptos"/>
              </a:defRPr>
            </a:pPr>
            <a:r>
              <a:t>1. Open the app.   2. Inspect portfolio choices and constraints.   3. Compare the app’s output with the notebook’s seeded experiments and exact classical baselines.   4. Explain which results are simulated and which come from the recorded IBM job.</a:t>
            </a:r>
          </a:p>
        </p:txBody>
      </p:sp>
      <p:sp>
        <p:nvSpPr>
          <p:cNvPr id="12" name="TextBox 11"/>
          <p:cNvSpPr txBox="1"/>
          <p:nvPr/>
        </p:nvSpPr>
        <p:spPr>
          <a:xfrm>
            <a:off x="914400" y="5623560"/>
            <a:ext cx="10058400" cy="365760"/>
          </a:xfrm>
          <a:prstGeom prst="rect">
            <a:avLst/>
          </a:prstGeom>
          <a:noFill/>
        </p:spPr>
        <p:txBody>
          <a:bodyPr wrap="square">
            <a:spAutoFit/>
          </a:bodyPr>
          <a:lstStyle/>
          <a:p>
            <a:pPr>
              <a:defRPr sz="1100" b="0">
                <a:solidFill>
                  <a:srgbClr val="B7C6DA"/>
                </a:solidFill>
                <a:latin typeface="Aptos"/>
              </a:defRPr>
            </a:pPr>
            <a:r>
              <a:t>Optimizer deployment is external to this package; package checks verify the URL is embedded, not that the site is currently online.</a:t>
            </a:r>
          </a:p>
        </p:txBody>
      </p:sp>
      <p:sp>
        <p:nvSpPr>
          <p:cNvPr id="13" name="TextBox 12"/>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14" name="TextBox 13"/>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10972800" cy="274320"/>
          </a:xfrm>
          <a:prstGeom prst="rect">
            <a:avLst/>
          </a:prstGeom>
          <a:noFill/>
        </p:spPr>
        <p:txBody>
          <a:bodyPr wrap="square">
            <a:spAutoFit/>
          </a:bodyPr>
          <a:lstStyle/>
          <a:p>
            <a:pPr>
              <a:defRPr sz="1000" b="1">
                <a:solidFill>
                  <a:srgbClr val="26BED2"/>
                </a:solidFill>
                <a:latin typeface="Aptos"/>
              </a:defRPr>
            </a:pPr>
            <a:r>
              <a:t>15 / TAKEAWAYS</a:t>
            </a:r>
          </a:p>
        </p:txBody>
      </p:sp>
      <p:sp>
        <p:nvSpPr>
          <p:cNvPr id="4" name="TextBox 3"/>
          <p:cNvSpPr txBox="1"/>
          <p:nvPr/>
        </p:nvSpPr>
        <p:spPr>
          <a:xfrm>
            <a:off x="594360" y="594360"/>
            <a:ext cx="10972800" cy="594360"/>
          </a:xfrm>
          <a:prstGeom prst="rect">
            <a:avLst/>
          </a:prstGeom>
          <a:noFill/>
        </p:spPr>
        <p:txBody>
          <a:bodyPr wrap="square">
            <a:spAutoFit/>
          </a:bodyPr>
          <a:lstStyle/>
          <a:p>
            <a:pPr>
              <a:defRPr sz="2700" b="1">
                <a:solidFill>
                  <a:srgbClr val="F6F9FC"/>
                </a:solidFill>
                <a:latin typeface="Aptos"/>
              </a:defRPr>
            </a:pPr>
            <a:r>
              <a:t>The contribution is the comparison framework—not a quantum advantage claim</a:t>
            </a:r>
          </a:p>
        </p:txBody>
      </p:sp>
      <p:sp>
        <p:nvSpPr>
          <p:cNvPr id="5" name="Rectangle 4"/>
          <p:cNvSpPr/>
          <p:nvPr/>
        </p:nvSpPr>
        <p:spPr>
          <a:xfrm>
            <a:off x="594360" y="1261872"/>
            <a:ext cx="960120" cy="41148"/>
          </a:xfrm>
          <a:prstGeom prst="rect">
            <a:avLst/>
          </a:prstGeom>
          <a:solidFill>
            <a:srgbClr val="26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10058400" cy="182880"/>
          </a:xfrm>
          <a:prstGeom prst="rect">
            <a:avLst/>
          </a:prstGeom>
          <a:noFill/>
        </p:spPr>
        <p:txBody>
          <a:bodyPr wrap="square">
            <a:spAutoFit/>
          </a:bodyPr>
          <a:lstStyle/>
          <a:p>
            <a:pPr>
              <a:defRPr sz="800" b="0">
                <a:solidFill>
                  <a:srgbClr val="B7C6DA"/>
                </a:solidFill>
                <a:latin typeface="Aptos"/>
              </a:defRPr>
            </a:pPr>
            <a:r>
              <a:t>XD CLAN  •  Qiskit Fall Fest 2026 × IIIT Delhi</a:t>
            </a:r>
          </a:p>
        </p:txBody>
      </p:sp>
      <p:sp>
        <p:nvSpPr>
          <p:cNvPr id="7" name="TextBox 6"/>
          <p:cNvSpPr txBox="1"/>
          <p:nvPr/>
        </p:nvSpPr>
        <p:spPr>
          <a:xfrm>
            <a:off x="11109960" y="6510528"/>
            <a:ext cx="457200" cy="228600"/>
          </a:xfrm>
          <a:prstGeom prst="rect">
            <a:avLst/>
          </a:prstGeom>
          <a:noFill/>
        </p:spPr>
        <p:txBody>
          <a:bodyPr wrap="square">
            <a:spAutoFit/>
          </a:bodyPr>
          <a:lstStyle/>
          <a:p>
            <a:pPr algn="r">
              <a:defRPr sz="900" b="1">
                <a:solidFill>
                  <a:srgbClr val="26BED2"/>
                </a:solidFill>
                <a:latin typeface="Aptos"/>
              </a:defRPr>
            </a:pPr>
            <a:r>
              <a:t>16</a:t>
            </a:r>
          </a:p>
        </p:txBody>
      </p:sp>
      <p:sp>
        <p:nvSpPr>
          <p:cNvPr id="8" name="Rounded Rectangle 7"/>
          <p:cNvSpPr/>
          <p:nvPr/>
        </p:nvSpPr>
        <p:spPr>
          <a:xfrm>
            <a:off x="731520" y="1828800"/>
            <a:ext cx="3383280" cy="14173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47672"/>
            <a:ext cx="3054096" cy="320040"/>
          </a:xfrm>
          <a:prstGeom prst="rect">
            <a:avLst/>
          </a:prstGeom>
          <a:noFill/>
        </p:spPr>
        <p:txBody>
          <a:bodyPr wrap="square">
            <a:spAutoFit/>
          </a:bodyPr>
          <a:lstStyle/>
          <a:p>
            <a:pPr>
              <a:defRPr sz="1500" b="1">
                <a:solidFill>
                  <a:srgbClr val="26BED2"/>
                </a:solidFill>
                <a:latin typeface="Aptos"/>
              </a:defRPr>
            </a:pPr>
            <a:r>
              <a:t>MODEL</a:t>
            </a:r>
          </a:p>
        </p:txBody>
      </p:sp>
      <p:sp>
        <p:nvSpPr>
          <p:cNvPr id="10" name="TextBox 9"/>
          <p:cNvSpPr txBox="1"/>
          <p:nvPr/>
        </p:nvSpPr>
        <p:spPr>
          <a:xfrm>
            <a:off x="896112" y="2331720"/>
            <a:ext cx="3054096" cy="795528"/>
          </a:xfrm>
          <a:prstGeom prst="rect">
            <a:avLst/>
          </a:prstGeom>
          <a:noFill/>
        </p:spPr>
        <p:txBody>
          <a:bodyPr wrap="square">
            <a:spAutoFit/>
          </a:bodyPr>
          <a:lstStyle/>
          <a:p>
            <a:pPr>
              <a:defRPr sz="1200" b="0">
                <a:solidFill>
                  <a:srgbClr val="F6F9FC"/>
                </a:solidFill>
                <a:latin typeface="Aptos"/>
              </a:defRPr>
            </a:pPr>
            <a:r>
              <a:t>Translate portfolio choices into binary variables and explicit constraints.</a:t>
            </a:r>
          </a:p>
        </p:txBody>
      </p:sp>
      <p:sp>
        <p:nvSpPr>
          <p:cNvPr id="11" name="Rounded Rectangle 10"/>
          <p:cNvSpPr/>
          <p:nvPr/>
        </p:nvSpPr>
        <p:spPr>
          <a:xfrm>
            <a:off x="4389120" y="1828800"/>
            <a:ext cx="3383280" cy="14173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47672"/>
            <a:ext cx="3054096" cy="320040"/>
          </a:xfrm>
          <a:prstGeom prst="rect">
            <a:avLst/>
          </a:prstGeom>
          <a:noFill/>
        </p:spPr>
        <p:txBody>
          <a:bodyPr wrap="square">
            <a:spAutoFit/>
          </a:bodyPr>
          <a:lstStyle/>
          <a:p>
            <a:pPr>
              <a:defRPr sz="1500" b="1">
                <a:solidFill>
                  <a:srgbClr val="26BED2"/>
                </a:solidFill>
                <a:latin typeface="Aptos"/>
              </a:defRPr>
            </a:pPr>
            <a:r>
              <a:t>MEASURE</a:t>
            </a:r>
          </a:p>
        </p:txBody>
      </p:sp>
      <p:sp>
        <p:nvSpPr>
          <p:cNvPr id="13" name="TextBox 12"/>
          <p:cNvSpPr txBox="1"/>
          <p:nvPr/>
        </p:nvSpPr>
        <p:spPr>
          <a:xfrm>
            <a:off x="4553712" y="2331720"/>
            <a:ext cx="3054096" cy="795528"/>
          </a:xfrm>
          <a:prstGeom prst="rect">
            <a:avLst/>
          </a:prstGeom>
          <a:noFill/>
        </p:spPr>
        <p:txBody>
          <a:bodyPr wrap="square">
            <a:spAutoFit/>
          </a:bodyPr>
          <a:lstStyle/>
          <a:p>
            <a:pPr>
              <a:defRPr sz="1200" b="0">
                <a:solidFill>
                  <a:srgbClr val="F6F9FC"/>
                </a:solidFill>
                <a:latin typeface="Aptos"/>
              </a:defRPr>
            </a:pPr>
            <a:r>
              <a:t>Track feasibility, cost, hit rate, shots, and circuit details.</a:t>
            </a:r>
          </a:p>
        </p:txBody>
      </p:sp>
      <p:sp>
        <p:nvSpPr>
          <p:cNvPr id="14" name="Rounded Rectangle 13"/>
          <p:cNvSpPr/>
          <p:nvPr/>
        </p:nvSpPr>
        <p:spPr>
          <a:xfrm>
            <a:off x="8046720" y="1828800"/>
            <a:ext cx="3383280" cy="1417320"/>
          </a:xfrm>
          <a:prstGeom prst="roundRect">
            <a:avLst/>
          </a:prstGeom>
          <a:solidFill>
            <a:srgbClr val="1A2B48"/>
          </a:solidFill>
          <a:ln>
            <a:solidFill>
              <a:srgbClr val="26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947672"/>
            <a:ext cx="3054096" cy="320040"/>
          </a:xfrm>
          <a:prstGeom prst="rect">
            <a:avLst/>
          </a:prstGeom>
          <a:noFill/>
        </p:spPr>
        <p:txBody>
          <a:bodyPr wrap="square">
            <a:spAutoFit/>
          </a:bodyPr>
          <a:lstStyle/>
          <a:p>
            <a:pPr>
              <a:defRPr sz="1500" b="1">
                <a:solidFill>
                  <a:srgbClr val="26BED2"/>
                </a:solidFill>
                <a:latin typeface="Aptos"/>
              </a:defRPr>
            </a:pPr>
            <a:r>
              <a:t>COMPARE</a:t>
            </a:r>
          </a:p>
        </p:txBody>
      </p:sp>
      <p:sp>
        <p:nvSpPr>
          <p:cNvPr id="16" name="TextBox 15"/>
          <p:cNvSpPr txBox="1"/>
          <p:nvPr/>
        </p:nvSpPr>
        <p:spPr>
          <a:xfrm>
            <a:off x="8211312" y="2331720"/>
            <a:ext cx="3054096" cy="795528"/>
          </a:xfrm>
          <a:prstGeom prst="rect">
            <a:avLst/>
          </a:prstGeom>
          <a:noFill/>
        </p:spPr>
        <p:txBody>
          <a:bodyPr wrap="square">
            <a:spAutoFit/>
          </a:bodyPr>
          <a:lstStyle/>
          <a:p>
            <a:pPr>
              <a:defRPr sz="1200" b="0">
                <a:solidFill>
                  <a:srgbClr val="F6F9FC"/>
                </a:solidFill>
                <a:latin typeface="Aptos"/>
              </a:defRPr>
            </a:pPr>
            <a:r>
              <a:t>Use exact classical ground truth and label each experiment honestly.</a:t>
            </a:r>
          </a:p>
        </p:txBody>
      </p:sp>
      <p:sp>
        <p:nvSpPr>
          <p:cNvPr id="17" name="TextBox 16"/>
          <p:cNvSpPr txBox="1"/>
          <p:nvPr/>
        </p:nvSpPr>
        <p:spPr>
          <a:xfrm>
            <a:off x="914400" y="4069080"/>
            <a:ext cx="10149840" cy="594360"/>
          </a:xfrm>
          <a:prstGeom prst="rect">
            <a:avLst/>
          </a:prstGeom>
          <a:noFill/>
        </p:spPr>
        <p:txBody>
          <a:bodyPr wrap="square">
            <a:spAutoFit/>
          </a:bodyPr>
          <a:lstStyle/>
          <a:p>
            <a:pPr>
              <a:defRPr sz="2200" b="1">
                <a:solidFill>
                  <a:srgbClr val="F6F9FC"/>
                </a:solidFill>
                <a:latin typeface="Aptos"/>
              </a:defRPr>
            </a:pPr>
            <a:r>
              <a:t>XD CLAN — QAOA for Constrained Portfolio Optimization</a:t>
            </a:r>
          </a:p>
        </p:txBody>
      </p:sp>
      <p:sp>
        <p:nvSpPr>
          <p:cNvPr id="18" name="TextBox 17"/>
          <p:cNvSpPr txBox="1"/>
          <p:nvPr/>
        </p:nvSpPr>
        <p:spPr>
          <a:xfrm>
            <a:off x="914400" y="4846320"/>
            <a:ext cx="10241280" cy="640080"/>
          </a:xfrm>
          <a:prstGeom prst="rect">
            <a:avLst/>
          </a:prstGeom>
          <a:noFill/>
        </p:spPr>
        <p:txBody>
          <a:bodyPr wrap="square">
            <a:spAutoFit/>
          </a:bodyPr>
          <a:lstStyle/>
          <a:p>
            <a:pPr>
              <a:defRPr sz="1200" b="1">
                <a:solidFill>
                  <a:srgbClr val="26BED2"/>
                </a:solidFill>
                <a:latin typeface="Aptos"/>
              </a:defRPr>
            </a:pPr>
            <a:r>
              <a:t>https://qiskit-fall-fest-2026-iiitd-ajiq5qdibj2ujasptcycxm.streamlit.app/</a:t>
            </a:r>
          </a:p>
        </p:txBody>
      </p:sp>
      <p:sp>
        <p:nvSpPr>
          <p:cNvPr id="19" name="TextBox 18"/>
          <p:cNvSpPr txBox="1"/>
          <p:nvPr/>
        </p:nvSpPr>
        <p:spPr>
          <a:xfrm>
            <a:off x="914400" y="5897880"/>
            <a:ext cx="10241280" cy="274320"/>
          </a:xfrm>
          <a:prstGeom prst="rect">
            <a:avLst/>
          </a:prstGeom>
          <a:noFill/>
        </p:spPr>
        <p:txBody>
          <a:bodyPr wrap="square">
            <a:spAutoFit/>
          </a:bodyPr>
          <a:lstStyle/>
          <a:p>
            <a:pPr>
              <a:defRPr sz="1600" b="0">
                <a:solidFill>
                  <a:srgbClr val="B7C6DA"/>
                </a:solidFill>
                <a:latin typeface="Aptos"/>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